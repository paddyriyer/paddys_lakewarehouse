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1F3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65760"/>
            <a:ext cx="457200" cy="4572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74320"/>
            <a:ext cx="411480" cy="41148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200400"/>
            <a:ext cx="320040" cy="32004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74720"/>
            <a:ext cx="274320" cy="27432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005840"/>
            <a:ext cx="548640" cy="54864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371600" y="10058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Opus 4.6</a:t>
            </a:r>
            <a:endParaRPr lang="en-US" sz="4400" dirty="0"/>
          </a:p>
        </p:txBody>
      </p:sp>
      <p:sp>
        <p:nvSpPr>
          <p:cNvPr id="10" name="Text 3"/>
          <p:cNvSpPr/>
          <p:nvPr/>
        </p:nvSpPr>
        <p:spPr>
          <a:xfrm>
            <a:off x="1371600" y="1600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MDM Lakehouse on AWS</a:t>
            </a:r>
            <a:endParaRPr lang="en-US" sz="2800" dirty="0"/>
          </a:p>
        </p:txBody>
      </p:sp>
      <p:sp>
        <p:nvSpPr>
          <p:cNvPr id="11" name="Text 4"/>
          <p:cNvSpPr/>
          <p:nvPr/>
        </p:nvSpPr>
        <p:spPr>
          <a:xfrm>
            <a:off x="1371600" y="2148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Architecture  •  Tool Use  •  MCP Plug-ins  •  Production Code</a:t>
            </a:r>
            <a:endParaRPr lang="en-US" sz="1400" dirty="0"/>
          </a:p>
        </p:txBody>
      </p:sp>
      <p:sp>
        <p:nvSpPr>
          <p:cNvPr id="12" name="Shape 5"/>
          <p:cNvSpPr/>
          <p:nvPr/>
        </p:nvSpPr>
        <p:spPr>
          <a:xfrm>
            <a:off x="548640" y="2834640"/>
            <a:ext cx="1463040" cy="777240"/>
          </a:xfrm>
          <a:prstGeom prst="rect">
            <a:avLst/>
          </a:prstGeom>
          <a:solidFill>
            <a:srgbClr val="252B45"/>
          </a:solidFill>
          <a:ln w="25400">
            <a:solidFill>
              <a:srgbClr val="FF99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6"/>
          <p:cNvSpPr/>
          <p:nvPr/>
        </p:nvSpPr>
        <p:spPr>
          <a:xfrm>
            <a:off x="548640" y="28529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50+</a:t>
            </a:r>
            <a:endParaRPr lang="en-US" sz="2600" dirty="0"/>
          </a:p>
        </p:txBody>
      </p:sp>
      <p:sp>
        <p:nvSpPr>
          <p:cNvPr id="14" name="Text 7"/>
          <p:cNvSpPr/>
          <p:nvPr/>
        </p:nvSpPr>
        <p:spPr>
          <a:xfrm>
            <a:off x="548640" y="3273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Pipelines</a:t>
            </a:r>
            <a:endParaRPr lang="en-US" sz="800" dirty="0"/>
          </a:p>
        </p:txBody>
      </p:sp>
      <p:sp>
        <p:nvSpPr>
          <p:cNvPr id="15" name="Shape 8"/>
          <p:cNvSpPr/>
          <p:nvPr/>
        </p:nvSpPr>
        <p:spPr>
          <a:xfrm>
            <a:off x="2194560" y="2834640"/>
            <a:ext cx="1463040" cy="777240"/>
          </a:xfrm>
          <a:prstGeom prst="rect">
            <a:avLst/>
          </a:prstGeom>
          <a:solidFill>
            <a:srgbClr val="252B45"/>
          </a:solidFill>
          <a:ln w="25400">
            <a:solidFill>
              <a:srgbClr val="4ADE8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9"/>
          <p:cNvSpPr/>
          <p:nvPr/>
        </p:nvSpPr>
        <p:spPr>
          <a:xfrm>
            <a:off x="2194560" y="28529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75%</a:t>
            </a:r>
            <a:endParaRPr lang="en-US" sz="2600" dirty="0"/>
          </a:p>
        </p:txBody>
      </p:sp>
      <p:sp>
        <p:nvSpPr>
          <p:cNvPr id="17" name="Text 10"/>
          <p:cNvSpPr/>
          <p:nvPr/>
        </p:nvSpPr>
        <p:spPr>
          <a:xfrm>
            <a:off x="2194560" y="3273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800" dirty="0"/>
          </a:p>
        </p:txBody>
      </p:sp>
      <p:sp>
        <p:nvSpPr>
          <p:cNvPr id="18" name="Shape 11"/>
          <p:cNvSpPr/>
          <p:nvPr/>
        </p:nvSpPr>
        <p:spPr>
          <a:xfrm>
            <a:off x="3840480" y="2834640"/>
            <a:ext cx="1463040" cy="777240"/>
          </a:xfrm>
          <a:prstGeom prst="rect">
            <a:avLst/>
          </a:prstGeom>
          <a:solidFill>
            <a:srgbClr val="252B45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2"/>
          <p:cNvSpPr/>
          <p:nvPr/>
        </p:nvSpPr>
        <p:spPr>
          <a:xfrm>
            <a:off x="3840480" y="28529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600" dirty="0"/>
          </a:p>
        </p:txBody>
      </p:sp>
      <p:sp>
        <p:nvSpPr>
          <p:cNvPr id="20" name="Text 13"/>
          <p:cNvSpPr/>
          <p:nvPr/>
        </p:nvSpPr>
        <p:spPr>
          <a:xfrm>
            <a:off x="3840480" y="3273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800" dirty="0"/>
          </a:p>
        </p:txBody>
      </p:sp>
      <p:sp>
        <p:nvSpPr>
          <p:cNvPr id="21" name="Shape 14"/>
          <p:cNvSpPr/>
          <p:nvPr/>
        </p:nvSpPr>
        <p:spPr>
          <a:xfrm>
            <a:off x="5486400" y="2834640"/>
            <a:ext cx="1463040" cy="777240"/>
          </a:xfrm>
          <a:prstGeom prst="rect">
            <a:avLst/>
          </a:prstGeom>
          <a:solidFill>
            <a:srgbClr val="252B45"/>
          </a:solidFill>
          <a:ln w="2540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5486400" y="28529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3-5mo</a:t>
            </a:r>
            <a:endParaRPr lang="en-US" sz="2600" dirty="0"/>
          </a:p>
        </p:txBody>
      </p:sp>
      <p:sp>
        <p:nvSpPr>
          <p:cNvPr id="23" name="Text 16"/>
          <p:cNvSpPr/>
          <p:nvPr/>
        </p:nvSpPr>
        <p:spPr>
          <a:xfrm>
            <a:off x="5486400" y="3273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</a:t>
            </a:r>
            <a:endParaRPr lang="en-US" sz="800" dirty="0"/>
          </a:p>
        </p:txBody>
      </p:sp>
      <p:sp>
        <p:nvSpPr>
          <p:cNvPr id="24" name="Shape 17"/>
          <p:cNvSpPr/>
          <p:nvPr/>
        </p:nvSpPr>
        <p:spPr>
          <a:xfrm>
            <a:off x="7132320" y="2834640"/>
            <a:ext cx="1463040" cy="777240"/>
          </a:xfrm>
          <a:prstGeom prst="rect">
            <a:avLst/>
          </a:prstGeom>
          <a:solidFill>
            <a:srgbClr val="252B45"/>
          </a:solidFill>
          <a:ln w="25400">
            <a:solidFill>
              <a:srgbClr val="FF99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7132320" y="28529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18+</a:t>
            </a:r>
            <a:endParaRPr lang="en-US" sz="2600" dirty="0"/>
          </a:p>
        </p:txBody>
      </p:sp>
      <p:sp>
        <p:nvSpPr>
          <p:cNvPr id="26" name="Text 19"/>
          <p:cNvSpPr/>
          <p:nvPr/>
        </p:nvSpPr>
        <p:spPr>
          <a:xfrm>
            <a:off x="7132320" y="3273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</a:t>
            </a:r>
            <a:endParaRPr lang="en-US" sz="8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526280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5720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7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4526280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64592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7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7520" y="4526280"/>
            <a:ext cx="274320" cy="27432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283464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7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6240" y="4526280"/>
            <a:ext cx="274320" cy="27432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02336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7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4960" y="4526280"/>
            <a:ext cx="274320" cy="27432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21208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70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0" y="4526280"/>
            <a:ext cx="274320" cy="27432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40080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7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2400" y="4526280"/>
            <a:ext cx="274320" cy="274320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758952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700" dirty="0"/>
          </a:p>
        </p:txBody>
      </p:sp>
      <p:sp>
        <p:nvSpPr>
          <p:cNvPr id="41" name="Text 27"/>
          <p:cNvSpPr/>
          <p:nvPr/>
        </p:nvSpPr>
        <p:spPr>
          <a:xfrm>
            <a:off x="6858000" y="4526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 |  February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Data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 → AWS Ingestion → Lakehouse → Analytics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9728" y="841248"/>
            <a:ext cx="1700784" cy="557784"/>
          </a:xfrm>
          <a:prstGeom prst="rect">
            <a:avLst/>
          </a:prstGeom>
          <a:solidFill>
            <a:srgbClr val="E8731A">
              <a:alpha val="30000"/>
            </a:srgbClr>
          </a:solidFill>
          <a:ln w="12700">
            <a:solidFill>
              <a:srgbClr val="E87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868680"/>
            <a:ext cx="1645920" cy="502920"/>
          </a:xfrm>
          <a:prstGeom prst="rect">
            <a:avLst/>
          </a:prstGeom>
          <a:solidFill>
            <a:srgbClr val="1E2540"/>
          </a:solidFill>
          <a:ln w="19050">
            <a:solidFill>
              <a:srgbClr val="E8731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601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8686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2880" y="1463040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E873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" y="1463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ECC/S4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82880" y="1938528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E873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2880" y="1938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CRM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2880" y="2414016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E873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2880" y="24140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Legacy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82880" y="2889504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E873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2880" y="28895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82880" y="3364992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E873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2880" y="33649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/ Files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801368" y="2103120"/>
            <a:ext cx="100584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1892808" y="841248"/>
            <a:ext cx="1700784" cy="557784"/>
          </a:xfrm>
          <a:prstGeom prst="rect">
            <a:avLst/>
          </a:prstGeom>
          <a:solidFill>
            <a:srgbClr val="1E6FBA">
              <a:alpha val="30000"/>
            </a:srgbClr>
          </a:solidFill>
          <a:ln w="12700">
            <a:solidFill>
              <a:srgbClr val="1E6FB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920240" y="868680"/>
            <a:ext cx="1645920" cy="502920"/>
          </a:xfrm>
          <a:prstGeom prst="rect">
            <a:avLst/>
          </a:prstGeom>
          <a:solidFill>
            <a:srgbClr val="1E2540"/>
          </a:solidFill>
          <a:ln w="19050">
            <a:solidFill>
              <a:srgbClr val="1E6FB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960120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377440" y="8686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F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1965960" y="1463040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1E6FB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965960" y="1463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965960" y="1938528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1E6FB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965960" y="1938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AppFlow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1965960" y="2414016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1E6FB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965960" y="24140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1965960" y="2889504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1E6FB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965960" y="28895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1965960" y="3364992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1E6FB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965960" y="33649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3584448" y="2103120"/>
            <a:ext cx="100584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34" name="Shape 30"/>
          <p:cNvSpPr/>
          <p:nvPr/>
        </p:nvSpPr>
        <p:spPr>
          <a:xfrm>
            <a:off x="3675888" y="841248"/>
            <a:ext cx="1700784" cy="557784"/>
          </a:xfrm>
          <a:prstGeom prst="rect">
            <a:avLst/>
          </a:prstGeom>
          <a:solidFill>
            <a:srgbClr val="3B8526">
              <a:alpha val="30000"/>
            </a:srgbClr>
          </a:solidFill>
          <a:ln w="12700">
            <a:solidFill>
              <a:srgbClr val="3B8526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3703320" y="868680"/>
            <a:ext cx="1645920" cy="502920"/>
          </a:xfrm>
          <a:prstGeom prst="rect">
            <a:avLst/>
          </a:prstGeom>
          <a:solidFill>
            <a:srgbClr val="1E2540"/>
          </a:solidFill>
          <a:ln w="19050">
            <a:solidFill>
              <a:srgbClr val="3B852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960120"/>
            <a:ext cx="320040" cy="32004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4160520" y="8686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5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LAKEHOUSE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3749040" y="1463040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3B8526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749040" y="1463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(Raw)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3749040" y="1938528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3B8526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3749040" y="1938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(Clean)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3749040" y="2414016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3B8526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3749040" y="24140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 (Golden)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3749040" y="2889504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3B8526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749040" y="28895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(Star)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3749040" y="3364992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3B8526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3749040" y="33649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5367528" y="2103120"/>
            <a:ext cx="100584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49" name="Shape 44"/>
          <p:cNvSpPr/>
          <p:nvPr/>
        </p:nvSpPr>
        <p:spPr>
          <a:xfrm>
            <a:off x="5458968" y="841248"/>
            <a:ext cx="1700784" cy="557784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5486400" y="868680"/>
            <a:ext cx="1645920" cy="502920"/>
          </a:xfrm>
          <a:prstGeom prst="rect">
            <a:avLst/>
          </a:prstGeom>
          <a:solidFill>
            <a:srgbClr val="1E2540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960120"/>
            <a:ext cx="320040" cy="320040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5943600" y="8686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AGENTS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5532120" y="1463040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5532120" y="1463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Generator</a:t>
            </a:r>
            <a:endParaRPr lang="en-US" sz="900" dirty="0"/>
          </a:p>
        </p:txBody>
      </p:sp>
      <p:sp>
        <p:nvSpPr>
          <p:cNvPr id="55" name="Shape 49"/>
          <p:cNvSpPr/>
          <p:nvPr/>
        </p:nvSpPr>
        <p:spPr>
          <a:xfrm>
            <a:off x="5532120" y="1938528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5532120" y="1938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 Matcher</a:t>
            </a:r>
            <a:endParaRPr lang="en-US" sz="900" dirty="0"/>
          </a:p>
        </p:txBody>
      </p:sp>
      <p:sp>
        <p:nvSpPr>
          <p:cNvPr id="57" name="Shape 51"/>
          <p:cNvSpPr/>
          <p:nvPr/>
        </p:nvSpPr>
        <p:spPr>
          <a:xfrm>
            <a:off x="5532120" y="2414016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5532120" y="24140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Engine</a:t>
            </a:r>
            <a:endParaRPr lang="en-US" sz="900" dirty="0"/>
          </a:p>
        </p:txBody>
      </p:sp>
      <p:sp>
        <p:nvSpPr>
          <p:cNvPr id="59" name="Shape 53"/>
          <p:cNvSpPr/>
          <p:nvPr/>
        </p:nvSpPr>
        <p:spPr>
          <a:xfrm>
            <a:off x="5532120" y="2889504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5532120" y="28895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Modeler</a:t>
            </a:r>
            <a:endParaRPr lang="en-US" sz="900" dirty="0"/>
          </a:p>
        </p:txBody>
      </p:sp>
      <p:sp>
        <p:nvSpPr>
          <p:cNvPr id="61" name="Shape 55"/>
          <p:cNvSpPr/>
          <p:nvPr/>
        </p:nvSpPr>
        <p:spPr>
          <a:xfrm>
            <a:off x="5532120" y="3364992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5532120" y="33649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Writer</a:t>
            </a:r>
            <a:endParaRPr lang="en-US" sz="900" dirty="0"/>
          </a:p>
        </p:txBody>
      </p:sp>
      <p:sp>
        <p:nvSpPr>
          <p:cNvPr id="63" name="Shape 57"/>
          <p:cNvSpPr/>
          <p:nvPr/>
        </p:nvSpPr>
        <p:spPr>
          <a:xfrm>
            <a:off x="7150608" y="2103120"/>
            <a:ext cx="100584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64" name="Shape 58"/>
          <p:cNvSpPr/>
          <p:nvPr/>
        </p:nvSpPr>
        <p:spPr>
          <a:xfrm>
            <a:off x="7242048" y="841248"/>
            <a:ext cx="1700784" cy="557784"/>
          </a:xfrm>
          <a:prstGeom prst="rect">
            <a:avLst/>
          </a:prstGeom>
          <a:solidFill>
            <a:srgbClr val="29B5E8">
              <a:alpha val="30000"/>
            </a:srgbClr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7269480" y="868680"/>
            <a:ext cx="1645920" cy="502920"/>
          </a:xfrm>
          <a:prstGeom prst="rect">
            <a:avLst/>
          </a:prstGeom>
          <a:solidFill>
            <a:srgbClr val="1E2540"/>
          </a:solidFill>
          <a:ln w="19050">
            <a:solidFill>
              <a:srgbClr val="29B5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6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960120"/>
            <a:ext cx="320040" cy="320040"/>
          </a:xfrm>
          <a:prstGeom prst="rect">
            <a:avLst/>
          </a:prstGeom>
        </p:spPr>
      </p:pic>
      <p:sp>
        <p:nvSpPr>
          <p:cNvPr id="67" name="Text 60"/>
          <p:cNvSpPr/>
          <p:nvPr/>
        </p:nvSpPr>
        <p:spPr>
          <a:xfrm>
            <a:off x="7726680" y="8686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B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SERVING</a:t>
            </a:r>
            <a:endParaRPr lang="en-US" sz="1100" dirty="0"/>
          </a:p>
        </p:txBody>
      </p:sp>
      <p:sp>
        <p:nvSpPr>
          <p:cNvPr id="68" name="Shape 61"/>
          <p:cNvSpPr/>
          <p:nvPr/>
        </p:nvSpPr>
        <p:spPr>
          <a:xfrm>
            <a:off x="7315200" y="1463040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29B5E8"/>
            </a:solidFill>
            <a:prstDash val="solid"/>
          </a:ln>
        </p:spPr>
      </p:sp>
      <p:sp>
        <p:nvSpPr>
          <p:cNvPr id="69" name="Text 62"/>
          <p:cNvSpPr/>
          <p:nvPr/>
        </p:nvSpPr>
        <p:spPr>
          <a:xfrm>
            <a:off x="7315200" y="1463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DW</a:t>
            </a:r>
            <a:endParaRPr lang="en-US" sz="900" dirty="0"/>
          </a:p>
        </p:txBody>
      </p:sp>
      <p:sp>
        <p:nvSpPr>
          <p:cNvPr id="70" name="Shape 63"/>
          <p:cNvSpPr/>
          <p:nvPr/>
        </p:nvSpPr>
        <p:spPr>
          <a:xfrm>
            <a:off x="7315200" y="1938528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29B5E8"/>
            </a:solidFill>
            <a:prstDash val="solid"/>
          </a:ln>
        </p:spPr>
      </p:sp>
      <p:sp>
        <p:nvSpPr>
          <p:cNvPr id="71" name="Text 64"/>
          <p:cNvSpPr/>
          <p:nvPr/>
        </p:nvSpPr>
        <p:spPr>
          <a:xfrm>
            <a:off x="7315200" y="1938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SQL</a:t>
            </a:r>
            <a:endParaRPr lang="en-US" sz="900" dirty="0"/>
          </a:p>
        </p:txBody>
      </p:sp>
      <p:sp>
        <p:nvSpPr>
          <p:cNvPr id="72" name="Shape 65"/>
          <p:cNvSpPr/>
          <p:nvPr/>
        </p:nvSpPr>
        <p:spPr>
          <a:xfrm>
            <a:off x="7315200" y="2414016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29B5E8"/>
            </a:solidFill>
            <a:prstDash val="solid"/>
          </a:ln>
        </p:spPr>
      </p:sp>
      <p:sp>
        <p:nvSpPr>
          <p:cNvPr id="73" name="Text 66"/>
          <p:cNvSpPr/>
          <p:nvPr/>
        </p:nvSpPr>
        <p:spPr>
          <a:xfrm>
            <a:off x="7315200" y="24140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/ BI</a:t>
            </a:r>
            <a:endParaRPr lang="en-US" sz="900" dirty="0"/>
          </a:p>
        </p:txBody>
      </p:sp>
      <p:sp>
        <p:nvSpPr>
          <p:cNvPr id="74" name="Shape 67"/>
          <p:cNvSpPr/>
          <p:nvPr/>
        </p:nvSpPr>
        <p:spPr>
          <a:xfrm>
            <a:off x="7315200" y="2889504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29B5E8"/>
            </a:solidFill>
            <a:prstDash val="solid"/>
          </a:ln>
        </p:spPr>
      </p:sp>
      <p:sp>
        <p:nvSpPr>
          <p:cNvPr id="75" name="Text 68"/>
          <p:cNvSpPr/>
          <p:nvPr/>
        </p:nvSpPr>
        <p:spPr>
          <a:xfrm>
            <a:off x="7315200" y="28895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900" dirty="0"/>
          </a:p>
        </p:txBody>
      </p:sp>
      <p:sp>
        <p:nvSpPr>
          <p:cNvPr id="76" name="Shape 69"/>
          <p:cNvSpPr/>
          <p:nvPr/>
        </p:nvSpPr>
        <p:spPr>
          <a:xfrm>
            <a:off x="7315200" y="3364992"/>
            <a:ext cx="1554480" cy="384048"/>
          </a:xfrm>
          <a:prstGeom prst="rect">
            <a:avLst/>
          </a:prstGeom>
          <a:solidFill>
            <a:srgbClr val="252B45"/>
          </a:solidFill>
          <a:ln w="9525">
            <a:solidFill>
              <a:srgbClr val="29B5E8"/>
            </a:solidFill>
            <a:prstDash val="solid"/>
          </a:ln>
        </p:spPr>
      </p:sp>
      <p:sp>
        <p:nvSpPr>
          <p:cNvPr id="77" name="Text 70"/>
          <p:cNvSpPr/>
          <p:nvPr/>
        </p:nvSpPr>
        <p:spPr>
          <a:xfrm>
            <a:off x="7315200" y="33649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Features</a:t>
            </a:r>
            <a:endParaRPr lang="en-US" sz="900" dirty="0"/>
          </a:p>
        </p:txBody>
      </p:sp>
      <p:sp>
        <p:nvSpPr>
          <p:cNvPr id="78" name="Shape 71"/>
          <p:cNvSpPr/>
          <p:nvPr/>
        </p:nvSpPr>
        <p:spPr>
          <a:xfrm>
            <a:off x="137160" y="4069080"/>
            <a:ext cx="8869680" cy="502920"/>
          </a:xfrm>
          <a:prstGeom prst="rect">
            <a:avLst/>
          </a:prstGeom>
          <a:solidFill>
            <a:srgbClr val="1E2540"/>
          </a:solidFill>
          <a:ln w="19050">
            <a:solidFill>
              <a:srgbClr val="D1343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7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4133088"/>
            <a:ext cx="320040" cy="320040"/>
          </a:xfrm>
          <a:prstGeom prst="rect">
            <a:avLst/>
          </a:prstGeom>
        </p:spPr>
      </p:pic>
      <p:sp>
        <p:nvSpPr>
          <p:cNvPr id="80" name="Text 72"/>
          <p:cNvSpPr/>
          <p:nvPr/>
        </p:nvSpPr>
        <p:spPr>
          <a:xfrm>
            <a:off x="685800" y="4069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Layer: VPC + PrivateLink  |  IAM Least Privilege  |  KMS Encryption  |  Secrets Manager  |  Lake Formation  |  CloudTrail Audit</a:t>
            </a:r>
            <a:endParaRPr lang="en-US" sz="900" dirty="0"/>
          </a:p>
        </p:txBody>
      </p:sp>
      <p:sp>
        <p:nvSpPr>
          <p:cNvPr id="81" name="Shape 7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82" name="Text 74"/>
          <p:cNvSpPr/>
          <p:nvPr/>
        </p:nvSpPr>
        <p:spPr>
          <a:xfrm>
            <a:off x="36576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MDM Lakehouse  |  Claude Opus 4.6  |  AWS Cloud Architecture</a:t>
            </a:r>
            <a:endParaRPr lang="en-US" sz="700" dirty="0"/>
          </a:p>
        </p:txBody>
      </p:sp>
      <p:sp>
        <p:nvSpPr>
          <p:cNvPr id="83" name="Text 75"/>
          <p:cNvSpPr/>
          <p:nvPr/>
        </p:nvSpPr>
        <p:spPr>
          <a:xfrm>
            <a:off x="685800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 |  Feb 2026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Agent Loop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Claude Opus 4.6 Orchestrates Enterprise Tools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6888" y="795528"/>
            <a:ext cx="3529584" cy="585216"/>
          </a:xfrm>
          <a:prstGeom prst="rect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3474720" cy="530352"/>
          </a:xfrm>
          <a:prstGeom prst="rect">
            <a:avLst/>
          </a:prstGeom>
          <a:solidFill>
            <a:srgbClr val="252B45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0525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8412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10789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SAP ETL pipelines"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291840" y="932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011680" y="1371600"/>
            <a:ext cx="0" cy="73152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46888" y="1435608"/>
            <a:ext cx="3529584" cy="585216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1463040"/>
            <a:ext cx="3474720" cy="530352"/>
          </a:xfrm>
          <a:prstGeom prst="rect">
            <a:avLst/>
          </a:prstGeom>
          <a:solidFill>
            <a:srgbClr val="252B45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4533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" y="14813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Reasons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77240" y="17190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which tools to call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291840" y="1572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2011680" y="2011680"/>
            <a:ext cx="0" cy="73152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246888" y="2075688"/>
            <a:ext cx="3529584" cy="585216"/>
          </a:xfrm>
          <a:prstGeom prst="rect">
            <a:avLst/>
          </a:prstGeom>
          <a:solidFill>
            <a:srgbClr val="FF9900">
              <a:alpha val="30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74320" y="2103120"/>
            <a:ext cx="3474720" cy="530352"/>
          </a:xfrm>
          <a:prstGeom prst="rect">
            <a:avLst/>
          </a:prstGeom>
          <a:solidFill>
            <a:srgbClr val="252B45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85416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77240" y="21214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tool_use Response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777240" y="2359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JSON with tool + args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3291840" y="2212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2011680" y="2651760"/>
            <a:ext cx="0" cy="73152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246888" y="2715768"/>
            <a:ext cx="3529584" cy="585216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274320" y="2743200"/>
            <a:ext cx="3474720" cy="530352"/>
          </a:xfrm>
          <a:prstGeom prst="rect">
            <a:avLst/>
          </a:prstGeom>
          <a:solidFill>
            <a:srgbClr val="252B4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825496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77240" y="27614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Handler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77240" y="29992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handler calls AWS SDK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3291840" y="2852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2011680" y="3291840"/>
            <a:ext cx="0" cy="7315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246888" y="3355848"/>
            <a:ext cx="3529584" cy="585216"/>
          </a:xfrm>
          <a:prstGeom prst="rect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274320" y="3383280"/>
            <a:ext cx="3474720" cy="530352"/>
          </a:xfrm>
          <a:prstGeom prst="rect">
            <a:avLst/>
          </a:prstGeom>
          <a:solidFill>
            <a:srgbClr val="252B45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465576"/>
            <a:ext cx="347472" cy="34747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77240" y="34015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tool_result Back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777240" y="36393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/ data returned to Claude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3291840" y="3493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Shape 31"/>
          <p:cNvSpPr/>
          <p:nvPr/>
        </p:nvSpPr>
        <p:spPr>
          <a:xfrm>
            <a:off x="2011680" y="3931920"/>
            <a:ext cx="0" cy="73152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9" name="Shape 32"/>
          <p:cNvSpPr/>
          <p:nvPr/>
        </p:nvSpPr>
        <p:spPr>
          <a:xfrm>
            <a:off x="246888" y="3995928"/>
            <a:ext cx="3529584" cy="585216"/>
          </a:xfrm>
          <a:prstGeom prst="rect">
            <a:avLst/>
          </a:prstGeom>
          <a:solidFill>
            <a:srgbClr val="4ADE80">
              <a:alpha val="3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274320" y="4023360"/>
            <a:ext cx="3474720" cy="530352"/>
          </a:xfrm>
          <a:prstGeom prst="rect">
            <a:avLst/>
          </a:prstGeom>
          <a:solidFill>
            <a:srgbClr val="252B45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4105656"/>
            <a:ext cx="347472" cy="347472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77240" y="40416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Code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777240" y="42793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PySpark pipeline</a:t>
            </a:r>
            <a:endParaRPr lang="en-US" sz="800" dirty="0"/>
          </a:p>
        </p:txBody>
      </p:sp>
      <p:sp>
        <p:nvSpPr>
          <p:cNvPr id="44" name="Text 36"/>
          <p:cNvSpPr/>
          <p:nvPr/>
        </p:nvSpPr>
        <p:spPr>
          <a:xfrm>
            <a:off x="3291840" y="4133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45" name="Shape 37"/>
          <p:cNvSpPr/>
          <p:nvPr/>
        </p:nvSpPr>
        <p:spPr>
          <a:xfrm>
            <a:off x="3794760" y="3383280"/>
            <a:ext cx="0" cy="-1920240"/>
          </a:xfrm>
          <a:prstGeom prst="line">
            <a:avLst/>
          </a:prstGeom>
          <a:noFill/>
          <a:ln w="12700">
            <a:solidFill>
              <a:srgbClr val="7C3AED"/>
            </a:solidFill>
            <a:prstDash val="dash"/>
          </a:ln>
        </p:spPr>
      </p:sp>
      <p:sp>
        <p:nvSpPr>
          <p:cNvPr id="46" name="Text 38"/>
          <p:cNvSpPr/>
          <p:nvPr/>
        </p:nvSpPr>
        <p:spPr>
          <a:xfrm>
            <a:off x="3657600" y="2194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700" dirty="0"/>
          </a:p>
        </p:txBody>
      </p:sp>
      <p:sp>
        <p:nvSpPr>
          <p:cNvPr id="47" name="Shape 39"/>
          <p:cNvSpPr/>
          <p:nvPr/>
        </p:nvSpPr>
        <p:spPr>
          <a:xfrm>
            <a:off x="4206240" y="777240"/>
            <a:ext cx="4663440" cy="36576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4315968" y="850392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49" name="Shape 41"/>
          <p:cNvSpPr/>
          <p:nvPr/>
        </p:nvSpPr>
        <p:spPr>
          <a:xfrm>
            <a:off x="4425696" y="850392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50" name="Shape 42"/>
          <p:cNvSpPr/>
          <p:nvPr/>
        </p:nvSpPr>
        <p:spPr>
          <a:xfrm>
            <a:off x="4535424" y="850392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51" name="Text 43"/>
          <p:cNvSpPr/>
          <p:nvPr/>
        </p:nvSpPr>
        <p:spPr>
          <a:xfrm>
            <a:off x="4297680" y="978408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Core Agent Loop — Anthropic Messages API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client.messages.create(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</a:t>
            </a:r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"claude-opus-4-6"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tools=ENTERPRISE_DATA_TOOLS,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messages=messages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response.stop_reason == </a:t>
            </a:r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'tool_use'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block in response.content: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block.type == </a:t>
            </a:r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'tool_use'</a:t>
            </a:r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PLUG-IN DISPATCH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handler = TOOL_HANDLERS[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block.name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 = handler(**block.input)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 handlers map to real systems: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TOOL_HANDLERS = {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"query_database":   </a:t>
            </a:r>
            <a:pPr indent="0" marL="0">
              <a:buNone/>
            </a:pPr>
            <a:r>
              <a:rPr lang="en-US" sz="7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execute_sql,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"salesforce_query": </a:t>
            </a:r>
            <a:pPr indent="0" marL="0">
              <a:buNone/>
            </a:pPr>
            <a:r>
              <a:rPr lang="en-US" sz="700" dirty="0">
                <a:solidFill>
                  <a:srgbClr val="00A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call_sfdc_api,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"write_pipeline":   </a:t>
            </a:r>
            <a:pPr indent="0" marL="0">
              <a:buNone/>
            </a:pPr>
            <a:r>
              <a:rPr lang="en-US" sz="7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write_to_git,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"run_tests":        </a:t>
            </a:r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run_pytest,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52" name="Shape 4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3" name="Text 45"/>
          <p:cNvSpPr/>
          <p:nvPr/>
        </p:nvSpPr>
        <p:spPr>
          <a:xfrm>
            <a:off x="36576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MDM Lakehouse  |  Claude Opus 4.6  |  AWS Cloud Architecture</a:t>
            </a:r>
            <a:endParaRPr lang="en-US" sz="700" dirty="0"/>
          </a:p>
        </p:txBody>
      </p:sp>
      <p:sp>
        <p:nvSpPr>
          <p:cNvPr id="54" name="Text 46"/>
          <p:cNvSpPr/>
          <p:nvPr/>
        </p:nvSpPr>
        <p:spPr>
          <a:xfrm>
            <a:off x="685800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 |  Feb 2026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Lakehouse Medallion Architecture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7160"/>
            <a:ext cx="365760" cy="365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55448" y="658368"/>
            <a:ext cx="2157984" cy="3529584"/>
          </a:xfrm>
          <a:prstGeom prst="rect">
            <a:avLst/>
          </a:prstGeom>
          <a:solidFill>
            <a:srgbClr val="CD7F32">
              <a:alpha val="30000"/>
            </a:srgbClr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" y="685800"/>
            <a:ext cx="2103120" cy="3474720"/>
          </a:xfrm>
          <a:prstGeom prst="rect">
            <a:avLst/>
          </a:prstGeom>
          <a:solidFill>
            <a:srgbClr val="1E2540"/>
          </a:solidFill>
          <a:ln w="19050">
            <a:solidFill>
              <a:srgbClr val="CD7F3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95528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7589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D7F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BRONZE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274320" y="11430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Immutable, Append-Only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274320" y="1417320"/>
            <a:ext cx="1920240" cy="338328"/>
          </a:xfrm>
          <a:prstGeom prst="rect">
            <a:avLst/>
          </a:prstGeom>
          <a:solidFill>
            <a:srgbClr val="252B45"/>
          </a:solidFill>
          <a:ln w="9525">
            <a:solidFill>
              <a:srgbClr val="CD7F3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141732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KNA1/MARA/VBAK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74320" y="1828800"/>
            <a:ext cx="1920240" cy="338328"/>
          </a:xfrm>
          <a:prstGeom prst="rect">
            <a:avLst/>
          </a:prstGeom>
          <a:solidFill>
            <a:srgbClr val="252B45"/>
          </a:solidFill>
          <a:ln w="9525">
            <a:solidFill>
              <a:srgbClr val="CD7F3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0040" y="182880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SFDC Account/Contact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74320" y="2240280"/>
            <a:ext cx="1920240" cy="338328"/>
          </a:xfrm>
          <a:prstGeom prst="rect">
            <a:avLst/>
          </a:prstGeom>
          <a:solidFill>
            <a:srgbClr val="252B45"/>
          </a:solidFill>
          <a:ln w="9525">
            <a:solidFill>
              <a:srgbClr val="CD7F3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0040" y="224028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CRM tables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74320" y="2651760"/>
            <a:ext cx="1920240" cy="338328"/>
          </a:xfrm>
          <a:prstGeom prst="rect">
            <a:avLst/>
          </a:prstGeom>
          <a:solidFill>
            <a:srgbClr val="252B45"/>
          </a:solidFill>
          <a:ln w="9525">
            <a:solidFill>
              <a:srgbClr val="CD7F3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20040" y="265176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API data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274320" y="3154680"/>
            <a:ext cx="192024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2004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s3://lakehouse/bronze/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2240280" y="3611880"/>
            <a:ext cx="502920" cy="320040"/>
          </a:xfrm>
          <a:prstGeom prst="rect">
            <a:avLst/>
          </a:prstGeom>
          <a:solidFill>
            <a:srgbClr val="252B45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240280" y="3611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2304288" y="2286000"/>
            <a:ext cx="36576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2395728" y="658368"/>
            <a:ext cx="2157984" cy="3529584"/>
          </a:xfrm>
          <a:prstGeom prst="rect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423160" y="685800"/>
            <a:ext cx="2103120" cy="3474720"/>
          </a:xfrm>
          <a:prstGeom prst="rect">
            <a:avLst/>
          </a:prstGeom>
          <a:solidFill>
            <a:srgbClr val="1E2540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795528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926080" y="7589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SILVER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2514600" y="11430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Cleansed, Conformed, Deduped</a:t>
            </a:r>
            <a:endParaRPr lang="en-US" sz="700" dirty="0"/>
          </a:p>
        </p:txBody>
      </p:sp>
      <p:sp>
        <p:nvSpPr>
          <p:cNvPr id="27" name="Shape 22"/>
          <p:cNvSpPr/>
          <p:nvPr/>
        </p:nvSpPr>
        <p:spPr>
          <a:xfrm>
            <a:off x="2514600" y="1417320"/>
            <a:ext cx="1920240" cy="338328"/>
          </a:xfrm>
          <a:prstGeom prst="rect">
            <a:avLst/>
          </a:prstGeom>
          <a:solidFill>
            <a:srgbClr val="252B45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560320" y="141732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customer_master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2514600" y="1828800"/>
            <a:ext cx="1920240" cy="338328"/>
          </a:xfrm>
          <a:prstGeom prst="rect">
            <a:avLst/>
          </a:prstGeom>
          <a:solidFill>
            <a:srgbClr val="252B45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2560320" y="182880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product_master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2514600" y="2240280"/>
            <a:ext cx="1920240" cy="338328"/>
          </a:xfrm>
          <a:prstGeom prst="rect">
            <a:avLst/>
          </a:prstGeom>
          <a:solidFill>
            <a:srgbClr val="252B45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560320" y="224028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unified_orders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2514600" y="2651760"/>
            <a:ext cx="1920240" cy="338328"/>
          </a:xfrm>
          <a:prstGeom prst="rect">
            <a:avLst/>
          </a:prstGeom>
          <a:solidFill>
            <a:srgbClr val="252B45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2560320" y="265176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interaction_log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2514600" y="3154680"/>
            <a:ext cx="192024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256032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s3://lakehouse/silver/</a:t>
            </a:r>
            <a:endParaRPr lang="en-US" sz="700" dirty="0"/>
          </a:p>
        </p:txBody>
      </p:sp>
      <p:sp>
        <p:nvSpPr>
          <p:cNvPr id="37" name="Shape 32"/>
          <p:cNvSpPr/>
          <p:nvPr/>
        </p:nvSpPr>
        <p:spPr>
          <a:xfrm>
            <a:off x="4480560" y="3611880"/>
            <a:ext cx="502920" cy="320040"/>
          </a:xfrm>
          <a:prstGeom prst="rect">
            <a:avLst/>
          </a:prstGeom>
          <a:solidFill>
            <a:srgbClr val="252B45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480560" y="3611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4544568" y="2286000"/>
            <a:ext cx="36576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40" name="Shape 35"/>
          <p:cNvSpPr/>
          <p:nvPr/>
        </p:nvSpPr>
        <p:spPr>
          <a:xfrm>
            <a:off x="4636008" y="658368"/>
            <a:ext cx="2157984" cy="3529584"/>
          </a:xfrm>
          <a:prstGeom prst="rect">
            <a:avLst/>
          </a:prstGeom>
          <a:solidFill>
            <a:srgbClr val="16A34A">
              <a:alpha val="3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4663440" y="685800"/>
            <a:ext cx="2103120" cy="3474720"/>
          </a:xfrm>
          <a:prstGeom prst="rect">
            <a:avLst/>
          </a:prstGeom>
          <a:solidFill>
            <a:srgbClr val="1E2540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795528"/>
            <a:ext cx="320040" cy="32004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166360" y="7589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MDM</a:t>
            </a:r>
            <a:endParaRPr lang="en-US" sz="1800" dirty="0"/>
          </a:p>
        </p:txBody>
      </p:sp>
      <p:sp>
        <p:nvSpPr>
          <p:cNvPr id="44" name="Text 38"/>
          <p:cNvSpPr/>
          <p:nvPr/>
        </p:nvSpPr>
        <p:spPr>
          <a:xfrm>
            <a:off x="4754880" y="11430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Matched, Merged, Golden UIDs</a:t>
            </a:r>
            <a:endParaRPr lang="en-US" sz="700" dirty="0"/>
          </a:p>
        </p:txBody>
      </p:sp>
      <p:sp>
        <p:nvSpPr>
          <p:cNvPr id="45" name="Shape 39"/>
          <p:cNvSpPr/>
          <p:nvPr/>
        </p:nvSpPr>
        <p:spPr>
          <a:xfrm>
            <a:off x="4754880" y="1417320"/>
            <a:ext cx="1920240" cy="338328"/>
          </a:xfrm>
          <a:prstGeom prst="rect">
            <a:avLst/>
          </a:prstGeom>
          <a:solidFill>
            <a:srgbClr val="252B45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4800600" y="141732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match_pairs (Jaro-Winkler)</a:t>
            </a:r>
            <a:endParaRPr lang="en-US" sz="800" dirty="0"/>
          </a:p>
        </p:txBody>
      </p:sp>
      <p:sp>
        <p:nvSpPr>
          <p:cNvPr id="47" name="Shape 41"/>
          <p:cNvSpPr/>
          <p:nvPr/>
        </p:nvSpPr>
        <p:spPr>
          <a:xfrm>
            <a:off x="4754880" y="1828800"/>
            <a:ext cx="1920240" cy="338328"/>
          </a:xfrm>
          <a:prstGeom prst="rect">
            <a:avLst/>
          </a:prstGeom>
          <a:solidFill>
            <a:srgbClr val="252B45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4800600" y="182880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golden_customers (UID)</a:t>
            </a:r>
            <a:endParaRPr lang="en-US" sz="800" dirty="0"/>
          </a:p>
        </p:txBody>
      </p:sp>
      <p:sp>
        <p:nvSpPr>
          <p:cNvPr id="49" name="Shape 43"/>
          <p:cNvSpPr/>
          <p:nvPr/>
        </p:nvSpPr>
        <p:spPr>
          <a:xfrm>
            <a:off x="4754880" y="2240280"/>
            <a:ext cx="1920240" cy="338328"/>
          </a:xfrm>
          <a:prstGeom prst="rect">
            <a:avLst/>
          </a:prstGeom>
          <a:solidFill>
            <a:srgbClr val="252B45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4800600" y="224028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golden_products</a:t>
            </a:r>
            <a:endParaRPr lang="en-US" sz="800" dirty="0"/>
          </a:p>
        </p:txBody>
      </p:sp>
      <p:sp>
        <p:nvSpPr>
          <p:cNvPr id="51" name="Shape 45"/>
          <p:cNvSpPr/>
          <p:nvPr/>
        </p:nvSpPr>
        <p:spPr>
          <a:xfrm>
            <a:off x="4754880" y="2651760"/>
            <a:ext cx="1920240" cy="338328"/>
          </a:xfrm>
          <a:prstGeom prst="rect">
            <a:avLst/>
          </a:prstGeom>
          <a:solidFill>
            <a:srgbClr val="252B45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4800600" y="265176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survivorship_log</a:t>
            </a:r>
            <a:endParaRPr lang="en-US" sz="800" dirty="0"/>
          </a:p>
        </p:txBody>
      </p:sp>
      <p:sp>
        <p:nvSpPr>
          <p:cNvPr id="53" name="Shape 47"/>
          <p:cNvSpPr/>
          <p:nvPr/>
        </p:nvSpPr>
        <p:spPr>
          <a:xfrm>
            <a:off x="4754880" y="3154680"/>
            <a:ext cx="192024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480060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s3://lakehouse/mdm/</a:t>
            </a:r>
            <a:endParaRPr lang="en-US" sz="700" dirty="0"/>
          </a:p>
        </p:txBody>
      </p:sp>
      <p:sp>
        <p:nvSpPr>
          <p:cNvPr id="55" name="Shape 49"/>
          <p:cNvSpPr/>
          <p:nvPr/>
        </p:nvSpPr>
        <p:spPr>
          <a:xfrm>
            <a:off x="6720840" y="3611880"/>
            <a:ext cx="502920" cy="320040"/>
          </a:xfrm>
          <a:prstGeom prst="rect">
            <a:avLst/>
          </a:prstGeom>
          <a:solidFill>
            <a:srgbClr val="252B45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6720840" y="3611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</a:t>
            </a:r>
            <a:endParaRPr lang="en-US" sz="800" dirty="0"/>
          </a:p>
        </p:txBody>
      </p:sp>
      <p:sp>
        <p:nvSpPr>
          <p:cNvPr id="57" name="Shape 51"/>
          <p:cNvSpPr/>
          <p:nvPr/>
        </p:nvSpPr>
        <p:spPr>
          <a:xfrm>
            <a:off x="6784848" y="2286000"/>
            <a:ext cx="36576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58" name="Shape 52"/>
          <p:cNvSpPr/>
          <p:nvPr/>
        </p:nvSpPr>
        <p:spPr>
          <a:xfrm>
            <a:off x="6876288" y="658368"/>
            <a:ext cx="2157984" cy="3529584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6903720" y="685800"/>
            <a:ext cx="2103120" cy="3474720"/>
          </a:xfrm>
          <a:prstGeom prst="rect">
            <a:avLst/>
          </a:prstGeom>
          <a:solidFill>
            <a:srgbClr val="1E254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6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795528"/>
            <a:ext cx="320040" cy="320040"/>
          </a:xfrm>
          <a:prstGeom prst="rect">
            <a:avLst/>
          </a:prstGeom>
        </p:spPr>
      </p:pic>
      <p:sp>
        <p:nvSpPr>
          <p:cNvPr id="61" name="Text 54"/>
          <p:cNvSpPr/>
          <p:nvPr/>
        </p:nvSpPr>
        <p:spPr>
          <a:xfrm>
            <a:off x="7406640" y="7589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</a:t>
            </a:r>
            <a:endParaRPr lang="en-US" sz="1800" dirty="0"/>
          </a:p>
        </p:txBody>
      </p:sp>
      <p:sp>
        <p:nvSpPr>
          <p:cNvPr id="62" name="Text 55"/>
          <p:cNvSpPr/>
          <p:nvPr/>
        </p:nvSpPr>
        <p:spPr>
          <a:xfrm>
            <a:off x="6995160" y="11430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Schema, BI-Ready</a:t>
            </a:r>
            <a:endParaRPr lang="en-US" sz="700" dirty="0"/>
          </a:p>
        </p:txBody>
      </p:sp>
      <p:sp>
        <p:nvSpPr>
          <p:cNvPr id="63" name="Shape 56"/>
          <p:cNvSpPr/>
          <p:nvPr/>
        </p:nvSpPr>
        <p:spPr>
          <a:xfrm>
            <a:off x="6995160" y="1417320"/>
            <a:ext cx="1920240" cy="338328"/>
          </a:xfrm>
          <a:prstGeom prst="rect">
            <a:avLst/>
          </a:prstGeom>
          <a:solidFill>
            <a:srgbClr val="252B45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7040880" y="141732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 (SCD2)</a:t>
            </a:r>
            <a:endParaRPr lang="en-US" sz="800" dirty="0"/>
          </a:p>
        </p:txBody>
      </p:sp>
      <p:sp>
        <p:nvSpPr>
          <p:cNvPr id="65" name="Shape 58"/>
          <p:cNvSpPr/>
          <p:nvPr/>
        </p:nvSpPr>
        <p:spPr>
          <a:xfrm>
            <a:off x="6995160" y="1828800"/>
            <a:ext cx="1920240" cy="338328"/>
          </a:xfrm>
          <a:prstGeom prst="rect">
            <a:avLst/>
          </a:prstGeom>
          <a:solidFill>
            <a:srgbClr val="252B45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6" name="Text 59"/>
          <p:cNvSpPr/>
          <p:nvPr/>
        </p:nvSpPr>
        <p:spPr>
          <a:xfrm>
            <a:off x="7040880" y="182880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800" dirty="0"/>
          </a:p>
        </p:txBody>
      </p:sp>
      <p:sp>
        <p:nvSpPr>
          <p:cNvPr id="67" name="Shape 60"/>
          <p:cNvSpPr/>
          <p:nvPr/>
        </p:nvSpPr>
        <p:spPr>
          <a:xfrm>
            <a:off x="6995160" y="2240280"/>
            <a:ext cx="1920240" cy="338328"/>
          </a:xfrm>
          <a:prstGeom prst="rect">
            <a:avLst/>
          </a:prstGeom>
          <a:solidFill>
            <a:srgbClr val="252B45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8" name="Text 61"/>
          <p:cNvSpPr/>
          <p:nvPr/>
        </p:nvSpPr>
        <p:spPr>
          <a:xfrm>
            <a:off x="7040880" y="224028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</a:t>
            </a:r>
            <a:endParaRPr lang="en-US" sz="800" dirty="0"/>
          </a:p>
        </p:txBody>
      </p:sp>
      <p:sp>
        <p:nvSpPr>
          <p:cNvPr id="69" name="Shape 62"/>
          <p:cNvSpPr/>
          <p:nvPr/>
        </p:nvSpPr>
        <p:spPr>
          <a:xfrm>
            <a:off x="6995160" y="2651760"/>
            <a:ext cx="1920240" cy="338328"/>
          </a:xfrm>
          <a:prstGeom prst="rect">
            <a:avLst/>
          </a:prstGeom>
          <a:solidFill>
            <a:srgbClr val="252B45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70" name="Text 63"/>
          <p:cNvSpPr/>
          <p:nvPr/>
        </p:nvSpPr>
        <p:spPr>
          <a:xfrm>
            <a:off x="7040880" y="265176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fact_interactions</a:t>
            </a:r>
            <a:endParaRPr lang="en-US" sz="800" dirty="0"/>
          </a:p>
        </p:txBody>
      </p:sp>
      <p:sp>
        <p:nvSpPr>
          <p:cNvPr id="71" name="Shape 64"/>
          <p:cNvSpPr/>
          <p:nvPr/>
        </p:nvSpPr>
        <p:spPr>
          <a:xfrm>
            <a:off x="6995160" y="3154680"/>
            <a:ext cx="192024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2" name="Text 65"/>
          <p:cNvSpPr/>
          <p:nvPr/>
        </p:nvSpPr>
        <p:spPr>
          <a:xfrm>
            <a:off x="704088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s3://lakehouse/gold/</a:t>
            </a:r>
            <a:endParaRPr lang="en-US" sz="700" dirty="0"/>
          </a:p>
        </p:txBody>
      </p:sp>
      <p:sp>
        <p:nvSpPr>
          <p:cNvPr id="73" name="Shape 66"/>
          <p:cNvSpPr/>
          <p:nvPr/>
        </p:nvSpPr>
        <p:spPr>
          <a:xfrm>
            <a:off x="182880" y="4297680"/>
            <a:ext cx="8778240" cy="365760"/>
          </a:xfrm>
          <a:prstGeom prst="rect">
            <a:avLst/>
          </a:prstGeom>
          <a:solidFill>
            <a:srgbClr val="1E2540"/>
          </a:solidFill>
          <a:ln w="19050">
            <a:solidFill>
              <a:srgbClr val="7C3AED"/>
            </a:solidFill>
            <a:prstDash val="solid"/>
          </a:ln>
        </p:spPr>
      </p:sp>
      <p:pic>
        <p:nvPicPr>
          <p:cNvPr id="7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343400"/>
            <a:ext cx="256032" cy="256032"/>
          </a:xfrm>
          <a:prstGeom prst="rect">
            <a:avLst/>
          </a:prstGeom>
        </p:spPr>
      </p:pic>
      <p:sp>
        <p:nvSpPr>
          <p:cNvPr id="75" name="Text 67"/>
          <p:cNvSpPr/>
          <p:nvPr/>
        </p:nvSpPr>
        <p:spPr>
          <a:xfrm>
            <a:off x="64008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Agents auto-generate ALL transformation code, matching logic, DQ rules, and dbt Gold models via Tool Use API</a:t>
            </a:r>
            <a:endParaRPr lang="en-US" sz="900" dirty="0"/>
          </a:p>
        </p:txBody>
      </p:sp>
      <p:sp>
        <p:nvSpPr>
          <p:cNvPr id="76" name="Shape 6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7" name="Text 69"/>
          <p:cNvSpPr/>
          <p:nvPr/>
        </p:nvSpPr>
        <p:spPr>
          <a:xfrm>
            <a:off x="36576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MDM Lakehouse  |  Claude Opus 4.6  |  AWS Cloud Architecture</a:t>
            </a:r>
            <a:endParaRPr lang="en-US" sz="700" dirty="0"/>
          </a:p>
        </p:txBody>
      </p:sp>
      <p:sp>
        <p:nvSpPr>
          <p:cNvPr id="78" name="Text 70"/>
          <p:cNvSpPr/>
          <p:nvPr/>
        </p:nvSpPr>
        <p:spPr>
          <a:xfrm>
            <a:off x="685800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 |  Feb 2026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Integrations on AWS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55448" y="612648"/>
            <a:ext cx="2889504" cy="2066544"/>
          </a:xfrm>
          <a:prstGeom prst="rect">
            <a:avLst/>
          </a:prstGeom>
          <a:solidFill>
            <a:srgbClr val="E8731A">
              <a:alpha val="30000"/>
            </a:srgbClr>
          </a:solidFill>
          <a:ln w="12700">
            <a:solidFill>
              <a:srgbClr val="E87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640080"/>
            <a:ext cx="2834640" cy="2011680"/>
          </a:xfrm>
          <a:prstGeom prst="rect">
            <a:avLst/>
          </a:prstGeom>
          <a:solidFill>
            <a:srgbClr val="1E2540"/>
          </a:solidFill>
          <a:ln w="19050">
            <a:solidFill>
              <a:srgbClr val="E8731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731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731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SAP Integration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" y="1188720"/>
            <a:ext cx="2560320" cy="256032"/>
          </a:xfrm>
          <a:prstGeom prst="rect">
            <a:avLst/>
          </a:prstGeom>
          <a:solidFill>
            <a:srgbClr val="252B45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188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 / PrivateLink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600200" y="1463040"/>
            <a:ext cx="0" cy="27432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20040" y="1508760"/>
            <a:ext cx="2560320" cy="256032"/>
          </a:xfrm>
          <a:prstGeom prst="rect">
            <a:avLst/>
          </a:prstGeom>
          <a:solidFill>
            <a:srgbClr val="252B45"/>
          </a:solidFill>
          <a:ln w="9525">
            <a:solidFill>
              <a:srgbClr val="8B95A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1508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RFC_READ_TABLE / BAPI calls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600200" y="1783080"/>
            <a:ext cx="0" cy="27432"/>
          </a:xfrm>
          <a:prstGeom prst="line">
            <a:avLst/>
          </a:prstGeom>
          <a:noFill/>
          <a:ln w="12700">
            <a:solidFill>
              <a:srgbClr val="8B95A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20040" y="1828800"/>
            <a:ext cx="2560320" cy="256032"/>
          </a:xfrm>
          <a:prstGeom prst="rect">
            <a:avLst/>
          </a:prstGeom>
          <a:solidFill>
            <a:srgbClr val="252B45"/>
          </a:solidFill>
          <a:ln w="9525">
            <a:solidFill>
              <a:srgbClr val="1E6FB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(PySpark + PyRFC)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600200" y="2103120"/>
            <a:ext cx="0" cy="27432"/>
          </a:xfrm>
          <a:prstGeom prst="line">
            <a:avLst/>
          </a:prstGeom>
          <a:noFill/>
          <a:ln w="12700">
            <a:solidFill>
              <a:srgbClr val="1E6FBA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20040" y="2148840"/>
            <a:ext cx="2560320" cy="256032"/>
          </a:xfrm>
          <a:prstGeom prst="rect">
            <a:avLst/>
          </a:prstGeom>
          <a:solidFill>
            <a:srgbClr val="252B45"/>
          </a:solidFill>
          <a:ln w="9525">
            <a:solidFill>
              <a:srgbClr val="3B852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2148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Bronze → Delta Lake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172968" y="612648"/>
            <a:ext cx="2889504" cy="2066544"/>
          </a:xfrm>
          <a:prstGeom prst="rect">
            <a:avLst/>
          </a:prstGeom>
          <a:solidFill>
            <a:srgbClr val="00A1E0">
              <a:alpha val="30000"/>
            </a:srgbClr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00400" y="640080"/>
            <a:ext cx="2834640" cy="2011680"/>
          </a:xfrm>
          <a:prstGeom prst="rect">
            <a:avLst/>
          </a:prstGeom>
          <a:solidFill>
            <a:srgbClr val="1E2540"/>
          </a:solidFill>
          <a:ln w="19050">
            <a:solidFill>
              <a:srgbClr val="00A1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73152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749040" y="731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1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Salesforce Integration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3337560" y="1188720"/>
            <a:ext cx="2560320" cy="256032"/>
          </a:xfrm>
          <a:prstGeom prst="rect">
            <a:avLst/>
          </a:prstGeom>
          <a:solidFill>
            <a:srgbClr val="252B45"/>
          </a:solidFill>
          <a:ln w="9525">
            <a:solidFill>
              <a:srgbClr val="00A1E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383280" y="1188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AppFlow (Batch) + Events (CDC)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337560" y="1508760"/>
            <a:ext cx="2560320" cy="256032"/>
          </a:xfrm>
          <a:prstGeom prst="rect">
            <a:avLst/>
          </a:prstGeom>
          <a:solidFill>
            <a:srgbClr val="252B45"/>
          </a:solidFill>
          <a:ln w="9525">
            <a:solidFill>
              <a:srgbClr val="8B95A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383280" y="1508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API 2.0 / Platform Events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3337560" y="1828800"/>
            <a:ext cx="2560320" cy="256032"/>
          </a:xfrm>
          <a:prstGeom prst="rect">
            <a:avLst/>
          </a:prstGeom>
          <a:solidFill>
            <a:srgbClr val="252B45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38328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+ EventBridge triggers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3337560" y="2148840"/>
            <a:ext cx="2560320" cy="256032"/>
          </a:xfrm>
          <a:prstGeom prst="rect">
            <a:avLst/>
          </a:prstGeom>
          <a:solidFill>
            <a:srgbClr val="252B45"/>
          </a:solidFill>
          <a:ln w="9525">
            <a:solidFill>
              <a:srgbClr val="3B852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383280" y="2148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Bronze → Delta Lake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6190488" y="612648"/>
            <a:ext cx="2798064" cy="2066544"/>
          </a:xfrm>
          <a:prstGeom prst="rect">
            <a:avLst/>
          </a:prstGeom>
          <a:solidFill>
            <a:srgbClr val="29B5E8">
              <a:alpha val="30000"/>
            </a:srgbClr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217920" y="640080"/>
            <a:ext cx="2743200" cy="2011680"/>
          </a:xfrm>
          <a:prstGeom prst="rect">
            <a:avLst/>
          </a:prstGeom>
          <a:solidFill>
            <a:srgbClr val="1E2540"/>
          </a:solidFill>
          <a:ln w="19050">
            <a:solidFill>
              <a:srgbClr val="29B5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731520"/>
            <a:ext cx="365760" cy="36576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766560" y="731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B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Snowflake Serving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6355080" y="1188720"/>
            <a:ext cx="2468880" cy="256032"/>
          </a:xfrm>
          <a:prstGeom prst="rect">
            <a:avLst/>
          </a:prstGeom>
          <a:solidFill>
            <a:srgbClr val="252B45"/>
          </a:solidFill>
          <a:ln w="9525">
            <a:solidFill>
              <a:srgbClr val="29B5E8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400800" y="1188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 (no public internet)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6355080" y="1508760"/>
            <a:ext cx="2468880" cy="256032"/>
          </a:xfrm>
          <a:prstGeom prst="rect">
            <a:avLst/>
          </a:prstGeom>
          <a:solidFill>
            <a:srgbClr val="252B45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00800" y="1508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Tables on Gold Delta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6355080" y="1828800"/>
            <a:ext cx="2468880" cy="256032"/>
          </a:xfrm>
          <a:prstGeom prst="rect">
            <a:avLst/>
          </a:prstGeom>
          <a:solidFill>
            <a:srgbClr val="252B45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400800" y="1828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Views (Cust 360)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6355080" y="2148840"/>
            <a:ext cx="2468880" cy="256032"/>
          </a:xfrm>
          <a:prstGeom prst="rect">
            <a:avLst/>
          </a:prstGeom>
          <a:solidFill>
            <a:srgbClr val="252B45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400800" y="2148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Snowpipe auto-ingest via SQS</a:t>
            </a:r>
            <a:endParaRPr lang="en-US" sz="800" dirty="0"/>
          </a:p>
        </p:txBody>
      </p:sp>
      <p:sp>
        <p:nvSpPr>
          <p:cNvPr id="42" name="Shape 37"/>
          <p:cNvSpPr/>
          <p:nvPr/>
        </p:nvSpPr>
        <p:spPr>
          <a:xfrm>
            <a:off x="182880" y="2834640"/>
            <a:ext cx="4297680" cy="1691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292608" y="2907792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44" name="Shape 39"/>
          <p:cNvSpPr/>
          <p:nvPr/>
        </p:nvSpPr>
        <p:spPr>
          <a:xfrm>
            <a:off x="402336" y="2907792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45" name="Shape 40"/>
          <p:cNvSpPr/>
          <p:nvPr/>
        </p:nvSpPr>
        <p:spPr>
          <a:xfrm>
            <a:off x="512064" y="2907792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46" name="Text 41"/>
          <p:cNvSpPr/>
          <p:nvPr/>
        </p:nvSpPr>
        <p:spPr>
          <a:xfrm>
            <a:off x="274320" y="3035808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 Agent generates this SAP Glue job: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sap_conn = pyrfc.Connection(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**get_secret(</a:t>
            </a:r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'mdm/sap/prod'</a:t>
            </a:r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sap_conn.call(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'RFC_READ_TABLE',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QUERY_TABLE='KNA1',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FIELDS=['KUNNR','NAME1','LAND1'])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df.write.format('delta').save(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's3://lakehouse/bronze/sap/kna1/')</a:t>
            </a:r>
            <a:endParaRPr lang="en-US" sz="700" dirty="0"/>
          </a:p>
        </p:txBody>
      </p:sp>
      <p:sp>
        <p:nvSpPr>
          <p:cNvPr id="47" name="Shape 42"/>
          <p:cNvSpPr/>
          <p:nvPr/>
        </p:nvSpPr>
        <p:spPr>
          <a:xfrm>
            <a:off x="4754880" y="2834640"/>
            <a:ext cx="4206240" cy="1691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3"/>
          <p:cNvSpPr/>
          <p:nvPr/>
        </p:nvSpPr>
        <p:spPr>
          <a:xfrm>
            <a:off x="4864608" y="2907792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49" name="Shape 44"/>
          <p:cNvSpPr/>
          <p:nvPr/>
        </p:nvSpPr>
        <p:spPr>
          <a:xfrm>
            <a:off x="4974336" y="2907792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50" name="Shape 45"/>
          <p:cNvSpPr/>
          <p:nvPr/>
        </p:nvSpPr>
        <p:spPr>
          <a:xfrm>
            <a:off x="5084064" y="2907792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51" name="Text 46"/>
          <p:cNvSpPr/>
          <p:nvPr/>
        </p:nvSpPr>
        <p:spPr>
          <a:xfrm>
            <a:off x="4846320" y="3035808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 Agent generates MDM matching: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jellyfish import jaro_winkler_similarity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(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0.30 * jaro_winkler(name_a, name_b)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+ 0.25 * (email_a == email_b)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+ 0.20 * phone_match(a, b)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+ 0.15 * addr_similarity(a, b)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AUTO_MERGE if score &gt;= 0.92</a:t>
            </a:r>
            <a:endParaRPr lang="en-US" sz="700" dirty="0"/>
          </a:p>
        </p:txBody>
      </p:sp>
      <p:sp>
        <p:nvSpPr>
          <p:cNvPr id="52" name="Shape 4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3" name="Text 48"/>
          <p:cNvSpPr/>
          <p:nvPr/>
        </p:nvSpPr>
        <p:spPr>
          <a:xfrm>
            <a:off x="36576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MDM Lakehouse  |  Claude Opus 4.6  |  AWS Cloud Architecture</a:t>
            </a:r>
            <a:endParaRPr lang="en-US" sz="700" dirty="0"/>
          </a:p>
        </p:txBody>
      </p:sp>
      <p:sp>
        <p:nvSpPr>
          <p:cNvPr id="54" name="Text 49"/>
          <p:cNvSpPr/>
          <p:nvPr/>
        </p:nvSpPr>
        <p:spPr>
          <a:xfrm>
            <a:off x="685800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 |  Feb 2026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Security Architecture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71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• Defense in Depth • Encryption Everywhere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55448" y="749808"/>
            <a:ext cx="8833104" cy="3255264"/>
          </a:xfrm>
          <a:prstGeom prst="rect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2880" y="777240"/>
            <a:ext cx="8778240" cy="3200400"/>
          </a:xfrm>
          <a:prstGeom prst="rect">
            <a:avLst/>
          </a:prstGeom>
          <a:solidFill>
            <a:srgbClr val="1E2540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841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+ PrivateLink (No Internet Egress)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29768" y="1207008"/>
            <a:ext cx="8284464" cy="2523744"/>
          </a:xfrm>
          <a:prstGeom prst="rect">
            <a:avLst/>
          </a:prstGeom>
          <a:solidFill>
            <a:srgbClr val="D13438">
              <a:alpha val="30000"/>
            </a:srgbClr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1234440"/>
            <a:ext cx="8229600" cy="2468880"/>
          </a:xfrm>
          <a:prstGeom prst="rect">
            <a:avLst/>
          </a:prstGeom>
          <a:solidFill>
            <a:srgbClr val="252B45"/>
          </a:solidFill>
          <a:ln w="19050">
            <a:solidFill>
              <a:srgbClr val="D1343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9844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1280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Least Privilege Roles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704088" y="1572768"/>
            <a:ext cx="7735824" cy="1883664"/>
          </a:xfrm>
          <a:prstGeom prst="rect">
            <a:avLst/>
          </a:prstGeom>
          <a:solidFill>
            <a:srgbClr val="FF9900">
              <a:alpha val="30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731520" y="1600200"/>
            <a:ext cx="7680960" cy="1828800"/>
          </a:xfrm>
          <a:prstGeom prst="rect">
            <a:avLst/>
          </a:prstGeom>
          <a:solidFill>
            <a:srgbClr val="1A1F36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673352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1645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Customer-Managed Keys (Auto-Rotate)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2807208" y="1938528"/>
            <a:ext cx="3529584" cy="1289304"/>
          </a:xfrm>
          <a:prstGeom prst="rect">
            <a:avLst/>
          </a:prstGeom>
          <a:solidFill>
            <a:srgbClr val="3B8526">
              <a:alpha val="30000"/>
            </a:srgbClr>
          </a:solidFill>
          <a:ln w="12700">
            <a:solidFill>
              <a:srgbClr val="3B8526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2834640" y="1965960"/>
            <a:ext cx="3474720" cy="1234440"/>
          </a:xfrm>
          <a:prstGeom prst="rect">
            <a:avLst/>
          </a:prstGeom>
          <a:solidFill>
            <a:srgbClr val="1E2540"/>
          </a:solidFill>
          <a:ln w="19050">
            <a:solidFill>
              <a:srgbClr val="3B852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205740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33756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5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LAKEHOUSE (S3 + Delta Lake)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2971800" y="2423160"/>
            <a:ext cx="731520" cy="274320"/>
          </a:xfrm>
          <a:prstGeom prst="rect">
            <a:avLst/>
          </a:prstGeom>
          <a:solidFill>
            <a:srgbClr val="252B45"/>
          </a:solidFill>
          <a:ln w="9525">
            <a:solidFill>
              <a:srgbClr val="3B8526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297180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800" dirty="0"/>
          </a:p>
        </p:txBody>
      </p:sp>
      <p:sp>
        <p:nvSpPr>
          <p:cNvPr id="23" name="Shape 16"/>
          <p:cNvSpPr/>
          <p:nvPr/>
        </p:nvSpPr>
        <p:spPr>
          <a:xfrm>
            <a:off x="3776472" y="2423160"/>
            <a:ext cx="731520" cy="274320"/>
          </a:xfrm>
          <a:prstGeom prst="rect">
            <a:avLst/>
          </a:prstGeom>
          <a:solidFill>
            <a:srgbClr val="252B45"/>
          </a:solidFill>
          <a:ln w="9525">
            <a:solidFill>
              <a:srgbClr val="3B8526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3776472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4581144" y="2423160"/>
            <a:ext cx="731520" cy="274320"/>
          </a:xfrm>
          <a:prstGeom prst="rect">
            <a:avLst/>
          </a:prstGeom>
          <a:solidFill>
            <a:srgbClr val="252B45"/>
          </a:solidFill>
          <a:ln w="9525">
            <a:solidFill>
              <a:srgbClr val="3B8526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581144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</a:t>
            </a:r>
            <a:endParaRPr lang="en-US" sz="800" dirty="0"/>
          </a:p>
        </p:txBody>
      </p:sp>
      <p:sp>
        <p:nvSpPr>
          <p:cNvPr id="27" name="Shape 20"/>
          <p:cNvSpPr/>
          <p:nvPr/>
        </p:nvSpPr>
        <p:spPr>
          <a:xfrm>
            <a:off x="5385816" y="2423160"/>
            <a:ext cx="731520" cy="274320"/>
          </a:xfrm>
          <a:prstGeom prst="rect">
            <a:avLst/>
          </a:prstGeom>
          <a:solidFill>
            <a:srgbClr val="252B45"/>
          </a:solidFill>
          <a:ln w="9525">
            <a:solidFill>
              <a:srgbClr val="3B8526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5385816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2834640" y="27889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 +  SSE-KMS  +  Bucket Key  +  No Public Access</a:t>
            </a:r>
            <a:endParaRPr lang="en-US" sz="700" dirty="0"/>
          </a:p>
        </p:txBody>
      </p:sp>
      <p:sp>
        <p:nvSpPr>
          <p:cNvPr id="30" name="Shape 23"/>
          <p:cNvSpPr/>
          <p:nvPr/>
        </p:nvSpPr>
        <p:spPr>
          <a:xfrm>
            <a:off x="914400" y="2011680"/>
            <a:ext cx="1737360" cy="502920"/>
          </a:xfrm>
          <a:prstGeom prst="rect">
            <a:avLst/>
          </a:prstGeom>
          <a:solidFill>
            <a:srgbClr val="1A1F36"/>
          </a:solidFill>
          <a:ln w="12700">
            <a:solidFill>
              <a:srgbClr val="D13438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2103120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280160" y="2029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1280160" y="2240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SAP/SFDC/Oracle/Snowflake creds</a:t>
            </a:r>
            <a:endParaRPr lang="en-US" sz="600" dirty="0"/>
          </a:p>
        </p:txBody>
      </p:sp>
      <p:sp>
        <p:nvSpPr>
          <p:cNvPr id="34" name="Shape 26"/>
          <p:cNvSpPr/>
          <p:nvPr/>
        </p:nvSpPr>
        <p:spPr>
          <a:xfrm>
            <a:off x="2697480" y="2267712"/>
            <a:ext cx="118872" cy="0"/>
          </a:xfrm>
          <a:prstGeom prst="line">
            <a:avLst/>
          </a:prstGeom>
          <a:noFill/>
          <a:ln w="12700">
            <a:solidFill>
              <a:srgbClr val="D13438"/>
            </a:solidFill>
            <a:prstDash val="solid"/>
            <a:tailEnd type="triangle"/>
          </a:ln>
        </p:spPr>
      </p:sp>
      <p:sp>
        <p:nvSpPr>
          <p:cNvPr id="35" name="Shape 27"/>
          <p:cNvSpPr/>
          <p:nvPr/>
        </p:nvSpPr>
        <p:spPr>
          <a:xfrm>
            <a:off x="914400" y="2606040"/>
            <a:ext cx="1737360" cy="502920"/>
          </a:xfrm>
          <a:prstGeom prst="rect">
            <a:avLst/>
          </a:prstGeom>
          <a:solidFill>
            <a:srgbClr val="1A1F36"/>
          </a:solidFill>
          <a:ln w="12700">
            <a:solidFill>
              <a:srgbClr val="3B8526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2697480"/>
            <a:ext cx="228600" cy="2286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80160" y="26243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Formation</a:t>
            </a:r>
            <a:endParaRPr lang="en-US" sz="800" dirty="0"/>
          </a:p>
        </p:txBody>
      </p:sp>
      <p:sp>
        <p:nvSpPr>
          <p:cNvPr id="38" name="Text 29"/>
          <p:cNvSpPr/>
          <p:nvPr/>
        </p:nvSpPr>
        <p:spPr>
          <a:xfrm>
            <a:off x="1280160" y="28346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PII masking</a:t>
            </a:r>
            <a:endParaRPr lang="en-US" sz="600" dirty="0"/>
          </a:p>
        </p:txBody>
      </p:sp>
      <p:sp>
        <p:nvSpPr>
          <p:cNvPr id="39" name="Shape 30"/>
          <p:cNvSpPr/>
          <p:nvPr/>
        </p:nvSpPr>
        <p:spPr>
          <a:xfrm>
            <a:off x="2697480" y="2862072"/>
            <a:ext cx="118872" cy="0"/>
          </a:xfrm>
          <a:prstGeom prst="line">
            <a:avLst/>
          </a:prstGeom>
          <a:noFill/>
          <a:ln w="12700">
            <a:solidFill>
              <a:srgbClr val="3B8526"/>
            </a:solidFill>
            <a:prstDash val="solid"/>
            <a:tailEnd type="triangle"/>
          </a:ln>
        </p:spPr>
      </p:sp>
      <p:sp>
        <p:nvSpPr>
          <p:cNvPr id="40" name="Shape 31"/>
          <p:cNvSpPr/>
          <p:nvPr/>
        </p:nvSpPr>
        <p:spPr>
          <a:xfrm>
            <a:off x="6492240" y="2011680"/>
            <a:ext cx="1737360" cy="502920"/>
          </a:xfrm>
          <a:prstGeom prst="rect">
            <a:avLst/>
          </a:prstGeom>
          <a:solidFill>
            <a:srgbClr val="1A1F36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2103120"/>
            <a:ext cx="228600" cy="22860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858000" y="2029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Audit</a:t>
            </a:r>
            <a:endParaRPr lang="en-US" sz="800" dirty="0"/>
          </a:p>
        </p:txBody>
      </p:sp>
      <p:sp>
        <p:nvSpPr>
          <p:cNvPr id="43" name="Text 33"/>
          <p:cNvSpPr/>
          <p:nvPr/>
        </p:nvSpPr>
        <p:spPr>
          <a:xfrm>
            <a:off x="6858000" y="2240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7-year log retention</a:t>
            </a:r>
            <a:endParaRPr lang="en-US" sz="600" dirty="0"/>
          </a:p>
        </p:txBody>
      </p:sp>
      <p:sp>
        <p:nvSpPr>
          <p:cNvPr id="44" name="Shape 34"/>
          <p:cNvSpPr/>
          <p:nvPr/>
        </p:nvSpPr>
        <p:spPr>
          <a:xfrm>
            <a:off x="6446520" y="2267712"/>
            <a:ext cx="-118872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45" name="Shape 35"/>
          <p:cNvSpPr/>
          <p:nvPr/>
        </p:nvSpPr>
        <p:spPr>
          <a:xfrm>
            <a:off x="6492240" y="2606040"/>
            <a:ext cx="1737360" cy="502920"/>
          </a:xfrm>
          <a:prstGeom prst="rect">
            <a:avLst/>
          </a:prstGeom>
          <a:solidFill>
            <a:srgbClr val="1A1F36"/>
          </a:solidFill>
          <a:ln w="12700">
            <a:solidFill>
              <a:srgbClr val="D13438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2697480"/>
            <a:ext cx="228600" cy="22860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858000" y="26243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</a:t>
            </a:r>
            <a:endParaRPr lang="en-US" sz="800" dirty="0"/>
          </a:p>
        </p:txBody>
      </p:sp>
      <p:sp>
        <p:nvSpPr>
          <p:cNvPr id="48" name="Text 37"/>
          <p:cNvSpPr/>
          <p:nvPr/>
        </p:nvSpPr>
        <p:spPr>
          <a:xfrm>
            <a:off x="6858000" y="28346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</a:t>
            </a:r>
            <a:endParaRPr lang="en-US" sz="600" dirty="0"/>
          </a:p>
        </p:txBody>
      </p:sp>
      <p:sp>
        <p:nvSpPr>
          <p:cNvPr id="49" name="Shape 38"/>
          <p:cNvSpPr/>
          <p:nvPr/>
        </p:nvSpPr>
        <p:spPr>
          <a:xfrm>
            <a:off x="6446520" y="2862072"/>
            <a:ext cx="-118872" cy="0"/>
          </a:xfrm>
          <a:prstGeom prst="line">
            <a:avLst/>
          </a:prstGeom>
          <a:noFill/>
          <a:ln w="12700">
            <a:solidFill>
              <a:srgbClr val="D13438"/>
            </a:solidFill>
            <a:prstDash val="solid"/>
            <a:tailEnd type="triangle"/>
          </a:ln>
        </p:spPr>
      </p:sp>
      <p:sp>
        <p:nvSpPr>
          <p:cNvPr id="50" name="Shape 39"/>
          <p:cNvSpPr/>
          <p:nvPr/>
        </p:nvSpPr>
        <p:spPr>
          <a:xfrm>
            <a:off x="457200" y="4160520"/>
            <a:ext cx="960120" cy="347472"/>
          </a:xfrm>
          <a:prstGeom prst="rect">
            <a:avLst/>
          </a:prstGeom>
          <a:solidFill>
            <a:srgbClr val="1E2540"/>
          </a:solidFill>
          <a:ln w="19050">
            <a:solidFill>
              <a:srgbClr val="D13438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457200" y="41605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1554480" y="4160520"/>
            <a:ext cx="960120" cy="347472"/>
          </a:xfrm>
          <a:prstGeom prst="rect">
            <a:avLst/>
          </a:prstGeom>
          <a:solidFill>
            <a:srgbClr val="1E2540"/>
          </a:solidFill>
          <a:ln w="19050">
            <a:solidFill>
              <a:srgbClr val="00A1E0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1554480" y="41605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2651760" y="4160520"/>
            <a:ext cx="960120" cy="347472"/>
          </a:xfrm>
          <a:prstGeom prst="rect">
            <a:avLst/>
          </a:prstGeom>
          <a:solidFill>
            <a:srgbClr val="1E2540"/>
          </a:solidFill>
          <a:ln w="19050">
            <a:solidFill>
              <a:srgbClr val="3B8526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2651760" y="41605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3749040" y="4160520"/>
            <a:ext cx="960120" cy="347472"/>
          </a:xfrm>
          <a:prstGeom prst="rect">
            <a:avLst/>
          </a:prstGeom>
          <a:solidFill>
            <a:srgbClr val="1E2540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3749040" y="41605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4846320" y="4160520"/>
            <a:ext cx="960120" cy="347472"/>
          </a:xfrm>
          <a:prstGeom prst="rect">
            <a:avLst/>
          </a:prstGeom>
          <a:solidFill>
            <a:srgbClr val="1E2540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4846320" y="41605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</a:t>
            </a:r>
            <a:endParaRPr lang="en-US" sz="1000" dirty="0"/>
          </a:p>
        </p:txBody>
      </p:sp>
      <p:sp>
        <p:nvSpPr>
          <p:cNvPr id="60" name="Shape 49"/>
          <p:cNvSpPr/>
          <p:nvPr/>
        </p:nvSpPr>
        <p:spPr>
          <a:xfrm>
            <a:off x="5943600" y="3657600"/>
            <a:ext cx="3017520" cy="9601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61" name="Shape 50"/>
          <p:cNvSpPr/>
          <p:nvPr/>
        </p:nvSpPr>
        <p:spPr>
          <a:xfrm>
            <a:off x="6053328" y="3730752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2" name="Shape 51"/>
          <p:cNvSpPr/>
          <p:nvPr/>
        </p:nvSpPr>
        <p:spPr>
          <a:xfrm>
            <a:off x="6163056" y="3730752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63" name="Shape 52"/>
          <p:cNvSpPr/>
          <p:nvPr/>
        </p:nvSpPr>
        <p:spPr>
          <a:xfrm>
            <a:off x="6272784" y="3730752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64" name="Text 53"/>
          <p:cNvSpPr/>
          <p:nvPr/>
        </p:nvSpPr>
        <p:spPr>
          <a:xfrm>
            <a:off x="6035040" y="385876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IAM: Bedrock Claude Agent Role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bedrock:InvokeModel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Resource: anthropic.claude-*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+ S3, Glue, Secrets, KMS</a:t>
            </a:r>
            <a:endParaRPr lang="en-US" sz="700" dirty="0"/>
          </a:p>
        </p:txBody>
      </p:sp>
      <p:sp>
        <p:nvSpPr>
          <p:cNvPr id="65" name="Shape 5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6" name="Text 55"/>
          <p:cNvSpPr/>
          <p:nvPr/>
        </p:nvSpPr>
        <p:spPr>
          <a:xfrm>
            <a:off x="36576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MDM Lakehouse  |  Claude Opus 4.6  |  AWS Cloud Architecture</a:t>
            </a:r>
            <a:endParaRPr lang="en-US" sz="700" dirty="0"/>
          </a:p>
        </p:txBody>
      </p:sp>
      <p:sp>
        <p:nvSpPr>
          <p:cNvPr id="67" name="Text 56"/>
          <p:cNvSpPr/>
          <p:nvPr/>
        </p:nvSpPr>
        <p:spPr>
          <a:xfrm>
            <a:off x="685800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 |  Feb 2026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Orchestration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71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57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Step Functions State Machine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01168" y="749808"/>
            <a:ext cx="2020824" cy="1426464"/>
          </a:xfrm>
          <a:prstGeom prst="rect">
            <a:avLst/>
          </a:prstGeom>
          <a:solidFill>
            <a:srgbClr val="E8731A">
              <a:alpha val="30000"/>
            </a:srgbClr>
          </a:solidFill>
          <a:ln w="12700">
            <a:solidFill>
              <a:srgbClr val="E873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777240"/>
            <a:ext cx="1965960" cy="1371600"/>
          </a:xfrm>
          <a:prstGeom prst="rect">
            <a:avLst/>
          </a:prstGeom>
          <a:solidFill>
            <a:srgbClr val="1E2540"/>
          </a:solidFill>
          <a:ln w="19050">
            <a:solidFill>
              <a:srgbClr val="E8731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86968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83080" y="822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2004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Bronze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20040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Jobs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(Parallel)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212848" y="1463040"/>
            <a:ext cx="18288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2395728" y="749808"/>
            <a:ext cx="2020824" cy="1426464"/>
          </a:xfrm>
          <a:prstGeom prst="rect">
            <a:avLst/>
          </a:prstGeom>
          <a:solidFill>
            <a:srgbClr val="D13438">
              <a:alpha val="30000"/>
            </a:srgbClr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423160" y="777240"/>
            <a:ext cx="1965960" cy="1371600"/>
          </a:xfrm>
          <a:prstGeom prst="rect">
            <a:avLst/>
          </a:prstGeom>
          <a:solidFill>
            <a:srgbClr val="1E2540"/>
          </a:solidFill>
          <a:ln w="19050">
            <a:solidFill>
              <a:srgbClr val="D1343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88696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77640" y="822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34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51460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Bronze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DQ Gate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2514600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Exp.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4407408" y="1463040"/>
            <a:ext cx="18288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4590288" y="749808"/>
            <a:ext cx="2020824" cy="1426464"/>
          </a:xfrm>
          <a:prstGeom prst="rect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617720" y="777240"/>
            <a:ext cx="1965960" cy="1371600"/>
          </a:xfrm>
          <a:prstGeom prst="rect">
            <a:avLst/>
          </a:prstGeom>
          <a:solidFill>
            <a:srgbClr val="1E2540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886968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72200" y="822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70916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Silver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709160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Cleansing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6601968" y="1463040"/>
            <a:ext cx="18288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6784848" y="749808"/>
            <a:ext cx="2020824" cy="1426464"/>
          </a:xfrm>
          <a:prstGeom prst="rect">
            <a:avLst/>
          </a:prstGeom>
          <a:solidFill>
            <a:srgbClr val="16A34A">
              <a:alpha val="3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812280" y="777240"/>
            <a:ext cx="1965960" cy="1371600"/>
          </a:xfrm>
          <a:prstGeom prst="rect">
            <a:avLst/>
          </a:prstGeom>
          <a:solidFill>
            <a:srgbClr val="1E2540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886968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366760" y="822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690372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MDM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Matching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6903720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Golden UID</a:t>
            </a:r>
            <a:endParaRPr lang="en-US" sz="800" dirty="0"/>
          </a:p>
        </p:txBody>
      </p:sp>
      <p:sp>
        <p:nvSpPr>
          <p:cNvPr id="32" name="Shape 25"/>
          <p:cNvSpPr/>
          <p:nvPr/>
        </p:nvSpPr>
        <p:spPr>
          <a:xfrm>
            <a:off x="7795260" y="2167128"/>
            <a:ext cx="0" cy="27432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201168" y="2441448"/>
            <a:ext cx="2020824" cy="1426464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228600" y="2468880"/>
            <a:ext cx="1965960" cy="1371600"/>
          </a:xfrm>
          <a:prstGeom prst="rect">
            <a:avLst/>
          </a:prstGeom>
          <a:solidFill>
            <a:srgbClr val="1E254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578608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78308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29"/>
          <p:cNvSpPr/>
          <p:nvPr/>
        </p:nvSpPr>
        <p:spPr>
          <a:xfrm>
            <a:off x="320040" y="2926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 dbt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320040" y="3383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800" dirty="0"/>
          </a:p>
        </p:txBody>
      </p:sp>
      <p:sp>
        <p:nvSpPr>
          <p:cNvPr id="39" name="Shape 31"/>
          <p:cNvSpPr/>
          <p:nvPr/>
        </p:nvSpPr>
        <p:spPr>
          <a:xfrm>
            <a:off x="2395728" y="2441448"/>
            <a:ext cx="2020824" cy="1426464"/>
          </a:xfrm>
          <a:prstGeom prst="rect">
            <a:avLst/>
          </a:prstGeom>
          <a:solidFill>
            <a:srgbClr val="29B5E8">
              <a:alpha val="30000"/>
            </a:srgbClr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2423160" y="2468880"/>
            <a:ext cx="1965960" cy="1371600"/>
          </a:xfrm>
          <a:prstGeom prst="rect">
            <a:avLst/>
          </a:prstGeom>
          <a:solidFill>
            <a:srgbClr val="1E2540"/>
          </a:solidFill>
          <a:ln w="19050">
            <a:solidFill>
              <a:srgbClr val="29B5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600" y="2578608"/>
            <a:ext cx="320040" cy="32004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397764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Text 34"/>
          <p:cNvSpPr/>
          <p:nvPr/>
        </p:nvSpPr>
        <p:spPr>
          <a:xfrm>
            <a:off x="2514600" y="2926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Snowflake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Refresh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2514600" y="3383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 Tables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Snowpipe</a:t>
            </a:r>
            <a:endParaRPr lang="en-US" sz="800" dirty="0"/>
          </a:p>
        </p:txBody>
      </p:sp>
      <p:sp>
        <p:nvSpPr>
          <p:cNvPr id="45" name="Shape 36"/>
          <p:cNvSpPr/>
          <p:nvPr/>
        </p:nvSpPr>
        <p:spPr>
          <a:xfrm>
            <a:off x="4407408" y="3154680"/>
            <a:ext cx="18288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46" name="Shape 37"/>
          <p:cNvSpPr/>
          <p:nvPr/>
        </p:nvSpPr>
        <p:spPr>
          <a:xfrm>
            <a:off x="4590288" y="2441448"/>
            <a:ext cx="2020824" cy="1426464"/>
          </a:xfrm>
          <a:prstGeom prst="rect">
            <a:avLst/>
          </a:prstGeom>
          <a:solidFill>
            <a:srgbClr val="D13438">
              <a:alpha val="30000"/>
            </a:srgbClr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4617720" y="2468880"/>
            <a:ext cx="1965960" cy="1371600"/>
          </a:xfrm>
          <a:prstGeom prst="rect">
            <a:avLst/>
          </a:prstGeom>
          <a:solidFill>
            <a:srgbClr val="1E2540"/>
          </a:solidFill>
          <a:ln w="19050">
            <a:solidFill>
              <a:srgbClr val="D1343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2578608"/>
            <a:ext cx="320040" cy="32004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6172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134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sp>
        <p:nvSpPr>
          <p:cNvPr id="50" name="Text 40"/>
          <p:cNvSpPr/>
          <p:nvPr/>
        </p:nvSpPr>
        <p:spPr>
          <a:xfrm>
            <a:off x="4709160" y="2926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DQ Final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</a:t>
            </a:r>
            <a:endParaRPr lang="en-US" sz="1200" dirty="0"/>
          </a:p>
        </p:txBody>
      </p:sp>
      <p:sp>
        <p:nvSpPr>
          <p:cNvPr id="51" name="Text 41"/>
          <p:cNvSpPr/>
          <p:nvPr/>
        </p:nvSpPr>
        <p:spPr>
          <a:xfrm>
            <a:off x="4709160" y="3383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52" name="Shape 42"/>
          <p:cNvSpPr/>
          <p:nvPr/>
        </p:nvSpPr>
        <p:spPr>
          <a:xfrm>
            <a:off x="6601968" y="3154680"/>
            <a:ext cx="18288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53" name="Shape 43"/>
          <p:cNvSpPr/>
          <p:nvPr/>
        </p:nvSpPr>
        <p:spPr>
          <a:xfrm>
            <a:off x="6784848" y="2441448"/>
            <a:ext cx="2020824" cy="1426464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6812280" y="2468880"/>
            <a:ext cx="1965960" cy="1371600"/>
          </a:xfrm>
          <a:prstGeom prst="rect">
            <a:avLst/>
          </a:prstGeom>
          <a:solidFill>
            <a:srgbClr val="1E254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3720" y="2578608"/>
            <a:ext cx="320040" cy="320040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836676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600" dirty="0"/>
          </a:p>
        </p:txBody>
      </p:sp>
      <p:sp>
        <p:nvSpPr>
          <p:cNvPr id="57" name="Text 46"/>
          <p:cNvSpPr/>
          <p:nvPr/>
        </p:nvSpPr>
        <p:spPr>
          <a:xfrm>
            <a:off x="6903720" y="2926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</a:t>
            </a:r>
            <a:endParaRPr lang="en-US" sz="1200" dirty="0"/>
          </a:p>
        </p:txBody>
      </p:sp>
      <p:sp>
        <p:nvSpPr>
          <p:cNvPr id="58" name="Text 47"/>
          <p:cNvSpPr/>
          <p:nvPr/>
        </p:nvSpPr>
        <p:spPr>
          <a:xfrm>
            <a:off x="6903720" y="3383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+ Slack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</a:t>
            </a:r>
            <a:endParaRPr lang="en-US" sz="800" dirty="0"/>
          </a:p>
        </p:txBody>
      </p:sp>
      <p:sp>
        <p:nvSpPr>
          <p:cNvPr id="59" name="Shape 48"/>
          <p:cNvSpPr/>
          <p:nvPr/>
        </p:nvSpPr>
        <p:spPr>
          <a:xfrm>
            <a:off x="228600" y="4114800"/>
            <a:ext cx="4114800" cy="365760"/>
          </a:xfrm>
          <a:prstGeom prst="rect">
            <a:avLst/>
          </a:prstGeom>
          <a:solidFill>
            <a:srgbClr val="1E2540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60" name="Text 49"/>
          <p:cNvSpPr/>
          <p:nvPr/>
        </p:nvSpPr>
        <p:spPr>
          <a:xfrm>
            <a:off x="320040" y="4114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Gate Failure → SNS Alert → Pipeline HALT → PagerDuty + Slack Notification</a:t>
            </a:r>
            <a:endParaRPr lang="en-US" sz="800" dirty="0"/>
          </a:p>
        </p:txBody>
      </p:sp>
      <p:sp>
        <p:nvSpPr>
          <p:cNvPr id="61" name="Shape 5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2" name="Text 51"/>
          <p:cNvSpPr/>
          <p:nvPr/>
        </p:nvSpPr>
        <p:spPr>
          <a:xfrm>
            <a:off x="36576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MDM Lakehouse  |  Claude Opus 4.6  |  AWS Cloud Architecture</a:t>
            </a:r>
            <a:endParaRPr lang="en-US" sz="700" dirty="0"/>
          </a:p>
        </p:txBody>
      </p:sp>
      <p:sp>
        <p:nvSpPr>
          <p:cNvPr id="63" name="Text 52"/>
          <p:cNvSpPr/>
          <p:nvPr/>
        </p:nvSpPr>
        <p:spPr>
          <a:xfrm>
            <a:off x="685800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 |  Feb 2026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Specialized Claude AI Agents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09728"/>
            <a:ext cx="41148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55448" y="612648"/>
            <a:ext cx="2843784" cy="1837944"/>
          </a:xfrm>
          <a:prstGeom prst="rect">
            <a:avLst/>
          </a:prstGeom>
          <a:solidFill>
            <a:srgbClr val="FF9900">
              <a:alpha val="30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" y="640080"/>
            <a:ext cx="2788920" cy="1783080"/>
          </a:xfrm>
          <a:prstGeom prst="rect">
            <a:avLst/>
          </a:prstGeom>
          <a:solidFill>
            <a:srgbClr val="1E2540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749808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731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ETL Generator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292608" y="1143000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source schemas → generates 50+ PySpark pipelines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292608" y="1508760"/>
            <a:ext cx="2569464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47472" y="150876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profile_data_source, write_pipeline_code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292608" y="1920240"/>
            <a:ext cx="2569464" cy="365760"/>
          </a:xfrm>
          <a:prstGeom prst="rect">
            <a:avLst/>
          </a:prstGeom>
          <a:solidFill>
            <a:srgbClr val="252B45"/>
          </a:solidFill>
          <a:ln w="9525">
            <a:solidFill>
              <a:srgbClr val="FF990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8424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792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extraction jobs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3127248" y="612648"/>
            <a:ext cx="2843784" cy="1837944"/>
          </a:xfrm>
          <a:prstGeom prst="rect">
            <a:avLst/>
          </a:prstGeom>
          <a:solidFill>
            <a:srgbClr val="16A34A">
              <a:alpha val="3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54680" y="640080"/>
            <a:ext cx="2788920" cy="1783080"/>
          </a:xfrm>
          <a:prstGeom prst="rect">
            <a:avLst/>
          </a:prstGeom>
          <a:solidFill>
            <a:srgbClr val="1E2540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749808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703320" y="731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MDM Matcher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3264408" y="1143000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data patterns → creates fuzzy matching engine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3264408" y="1508760"/>
            <a:ext cx="2569464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3319272" y="150876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query_database, write_pipeline_code</a:t>
            </a:r>
            <a:endParaRPr lang="en-US" sz="700" dirty="0"/>
          </a:p>
        </p:txBody>
      </p:sp>
      <p:sp>
        <p:nvSpPr>
          <p:cNvPr id="21" name="Shape 15"/>
          <p:cNvSpPr/>
          <p:nvPr/>
        </p:nvSpPr>
        <p:spPr>
          <a:xfrm>
            <a:off x="3264408" y="1920240"/>
            <a:ext cx="2569464" cy="365760"/>
          </a:xfrm>
          <a:prstGeom prst="rect">
            <a:avLst/>
          </a:prstGeom>
          <a:solidFill>
            <a:srgbClr val="252B45"/>
          </a:solidFill>
          <a:ln w="9525">
            <a:solidFill>
              <a:srgbClr val="16A34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1984248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593592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Match-merge-survive code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6099048" y="612648"/>
            <a:ext cx="2843784" cy="1837944"/>
          </a:xfrm>
          <a:prstGeom prst="rect">
            <a:avLst/>
          </a:prstGeom>
          <a:solidFill>
            <a:srgbClr val="D13438">
              <a:alpha val="30000"/>
            </a:srgbClr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126480" y="640080"/>
            <a:ext cx="2788920" cy="1783080"/>
          </a:xfrm>
          <a:prstGeom prst="rect">
            <a:avLst/>
          </a:prstGeom>
          <a:solidFill>
            <a:srgbClr val="1E2540"/>
          </a:solidFill>
          <a:ln w="19050">
            <a:solidFill>
              <a:srgbClr val="D1343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749808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75120" y="731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134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DQ Engine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6236208" y="1143000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tables → generates Great Expectations suites</a:t>
            </a:r>
            <a:endParaRPr lang="en-US" sz="800" dirty="0"/>
          </a:p>
        </p:txBody>
      </p:sp>
      <p:sp>
        <p:nvSpPr>
          <p:cNvPr id="29" name="Shape 21"/>
          <p:cNvSpPr/>
          <p:nvPr/>
        </p:nvSpPr>
        <p:spPr>
          <a:xfrm>
            <a:off x="6236208" y="1508760"/>
            <a:ext cx="2569464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6291072" y="150876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profile_data_source, run_tests</a:t>
            </a:r>
            <a:endParaRPr lang="en-US" sz="700" dirty="0"/>
          </a:p>
        </p:txBody>
      </p:sp>
      <p:sp>
        <p:nvSpPr>
          <p:cNvPr id="31" name="Shape 23"/>
          <p:cNvSpPr/>
          <p:nvPr/>
        </p:nvSpPr>
        <p:spPr>
          <a:xfrm>
            <a:off x="6236208" y="1920240"/>
            <a:ext cx="2569464" cy="365760"/>
          </a:xfrm>
          <a:prstGeom prst="rect">
            <a:avLst/>
          </a:prstGeom>
          <a:solidFill>
            <a:srgbClr val="252B45"/>
          </a:solidFill>
          <a:ln w="9525">
            <a:solidFill>
              <a:srgbClr val="D13438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1984248"/>
            <a:ext cx="201168" cy="20116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565392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 per layer</a:t>
            </a:r>
            <a:endParaRPr lang="en-US" sz="900" dirty="0"/>
          </a:p>
        </p:txBody>
      </p:sp>
      <p:sp>
        <p:nvSpPr>
          <p:cNvPr id="34" name="Shape 25"/>
          <p:cNvSpPr/>
          <p:nvPr/>
        </p:nvSpPr>
        <p:spPr>
          <a:xfrm>
            <a:off x="155448" y="2578608"/>
            <a:ext cx="2843784" cy="1837944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182880" y="2606040"/>
            <a:ext cx="2788920" cy="1783080"/>
          </a:xfrm>
          <a:prstGeom prst="rect">
            <a:avLst/>
          </a:prstGeom>
          <a:solidFill>
            <a:srgbClr val="1E254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608" y="2715768"/>
            <a:ext cx="365760" cy="36576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31520" y="2697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dbt Modeler</a:t>
            </a:r>
            <a:endParaRPr lang="en-US" sz="1400" dirty="0"/>
          </a:p>
        </p:txBody>
      </p:sp>
      <p:sp>
        <p:nvSpPr>
          <p:cNvPr id="38" name="Text 28"/>
          <p:cNvSpPr/>
          <p:nvPr/>
        </p:nvSpPr>
        <p:spPr>
          <a:xfrm>
            <a:off x="292608" y="3108960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Silver/MDM → generates Gold star schema</a:t>
            </a:r>
            <a:endParaRPr lang="en-US" sz="800" dirty="0"/>
          </a:p>
        </p:txBody>
      </p:sp>
      <p:sp>
        <p:nvSpPr>
          <p:cNvPr id="39" name="Shape 29"/>
          <p:cNvSpPr/>
          <p:nvPr/>
        </p:nvSpPr>
        <p:spPr>
          <a:xfrm>
            <a:off x="292608" y="3474720"/>
            <a:ext cx="2569464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47472" y="347472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delta_lake_operation, query_database</a:t>
            </a:r>
            <a:endParaRPr lang="en-US" sz="700" dirty="0"/>
          </a:p>
        </p:txBody>
      </p:sp>
      <p:sp>
        <p:nvSpPr>
          <p:cNvPr id="41" name="Shape 31"/>
          <p:cNvSpPr/>
          <p:nvPr/>
        </p:nvSpPr>
        <p:spPr>
          <a:xfrm>
            <a:off x="292608" y="3886200"/>
            <a:ext cx="2569464" cy="365760"/>
          </a:xfrm>
          <a:prstGeom prst="rect">
            <a:avLst/>
          </a:prstGeom>
          <a:solidFill>
            <a:srgbClr val="252B45"/>
          </a:solidFill>
          <a:ln w="9525">
            <a:solidFill>
              <a:srgbClr val="F59E0B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" y="3950208"/>
            <a:ext cx="201168" cy="20116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621792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+ fact models</a:t>
            </a:r>
            <a:endParaRPr lang="en-US" sz="900" dirty="0"/>
          </a:p>
        </p:txBody>
      </p:sp>
      <p:sp>
        <p:nvSpPr>
          <p:cNvPr id="44" name="Shape 33"/>
          <p:cNvSpPr/>
          <p:nvPr/>
        </p:nvSpPr>
        <p:spPr>
          <a:xfrm>
            <a:off x="3127248" y="2578608"/>
            <a:ext cx="2843784" cy="1837944"/>
          </a:xfrm>
          <a:prstGeom prst="rect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3154680" y="2606040"/>
            <a:ext cx="2788920" cy="1783080"/>
          </a:xfrm>
          <a:prstGeom prst="rect">
            <a:avLst/>
          </a:prstGeom>
          <a:solidFill>
            <a:srgbClr val="1E2540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64408" y="2715768"/>
            <a:ext cx="365760" cy="36576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3703320" y="2697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DAG Builder</a:t>
            </a:r>
            <a:endParaRPr lang="en-US" sz="1400" dirty="0"/>
          </a:p>
        </p:txBody>
      </p:sp>
      <p:sp>
        <p:nvSpPr>
          <p:cNvPr id="48" name="Text 36"/>
          <p:cNvSpPr/>
          <p:nvPr/>
        </p:nvSpPr>
        <p:spPr>
          <a:xfrm>
            <a:off x="3264408" y="3108960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pipelines → builds Step Functions ASL</a:t>
            </a:r>
            <a:endParaRPr lang="en-US" sz="800" dirty="0"/>
          </a:p>
        </p:txBody>
      </p:sp>
      <p:sp>
        <p:nvSpPr>
          <p:cNvPr id="49" name="Shape 37"/>
          <p:cNvSpPr/>
          <p:nvPr/>
        </p:nvSpPr>
        <p:spPr>
          <a:xfrm>
            <a:off x="3264408" y="3474720"/>
            <a:ext cx="2569464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0" name="Text 38"/>
          <p:cNvSpPr/>
          <p:nvPr/>
        </p:nvSpPr>
        <p:spPr>
          <a:xfrm>
            <a:off x="3319272" y="347472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write_pipeline_code</a:t>
            </a:r>
            <a:endParaRPr lang="en-US" sz="700" dirty="0"/>
          </a:p>
        </p:txBody>
      </p:sp>
      <p:sp>
        <p:nvSpPr>
          <p:cNvPr id="51" name="Shape 39"/>
          <p:cNvSpPr/>
          <p:nvPr/>
        </p:nvSpPr>
        <p:spPr>
          <a:xfrm>
            <a:off x="3264408" y="3886200"/>
            <a:ext cx="2569464" cy="365760"/>
          </a:xfrm>
          <a:prstGeom prst="rect">
            <a:avLst/>
          </a:prstGeom>
          <a:solidFill>
            <a:srgbClr val="252B45"/>
          </a:solidFill>
          <a:ln w="9525">
            <a:solidFill>
              <a:srgbClr val="8B5CF6"/>
            </a:solidFill>
            <a:prstDash val="solid"/>
          </a:ln>
        </p:spPr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7560" y="3950208"/>
            <a:ext cx="201168" cy="201168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3593592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DAGs</a:t>
            </a:r>
            <a:endParaRPr lang="en-US" sz="900" dirty="0"/>
          </a:p>
        </p:txBody>
      </p:sp>
      <p:sp>
        <p:nvSpPr>
          <p:cNvPr id="54" name="Shape 41"/>
          <p:cNvSpPr/>
          <p:nvPr/>
        </p:nvSpPr>
        <p:spPr>
          <a:xfrm>
            <a:off x="6099048" y="2578608"/>
            <a:ext cx="2843784" cy="1837944"/>
          </a:xfrm>
          <a:prstGeom prst="rect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5" name="Shape 42"/>
          <p:cNvSpPr/>
          <p:nvPr/>
        </p:nvSpPr>
        <p:spPr>
          <a:xfrm>
            <a:off x="6126480" y="2606040"/>
            <a:ext cx="2788920" cy="1783080"/>
          </a:xfrm>
          <a:prstGeom prst="rect">
            <a:avLst/>
          </a:prstGeom>
          <a:solidFill>
            <a:srgbClr val="1E2540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6208" y="2715768"/>
            <a:ext cx="365760" cy="365760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6675120" y="2697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 Writer</a:t>
            </a:r>
            <a:endParaRPr lang="en-US" sz="1400" dirty="0"/>
          </a:p>
        </p:txBody>
      </p:sp>
      <p:sp>
        <p:nvSpPr>
          <p:cNvPr id="58" name="Text 44"/>
          <p:cNvSpPr/>
          <p:nvPr/>
        </p:nvSpPr>
        <p:spPr>
          <a:xfrm>
            <a:off x="6236208" y="3108960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everything → generates data dictionaries</a:t>
            </a:r>
            <a:endParaRPr lang="en-US" sz="800" dirty="0"/>
          </a:p>
        </p:txBody>
      </p:sp>
      <p:sp>
        <p:nvSpPr>
          <p:cNvPr id="59" name="Shape 45"/>
          <p:cNvSpPr/>
          <p:nvPr/>
        </p:nvSpPr>
        <p:spPr>
          <a:xfrm>
            <a:off x="6236208" y="3474720"/>
            <a:ext cx="2569464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0" name="Text 46"/>
          <p:cNvSpPr/>
          <p:nvPr/>
        </p:nvSpPr>
        <p:spPr>
          <a:xfrm>
            <a:off x="6291072" y="347472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delta_lake_operation, query_database</a:t>
            </a:r>
            <a:endParaRPr lang="en-US" sz="700" dirty="0"/>
          </a:p>
        </p:txBody>
      </p:sp>
      <p:sp>
        <p:nvSpPr>
          <p:cNvPr id="61" name="Shape 47"/>
          <p:cNvSpPr/>
          <p:nvPr/>
        </p:nvSpPr>
        <p:spPr>
          <a:xfrm>
            <a:off x="6236208" y="3886200"/>
            <a:ext cx="2569464" cy="365760"/>
          </a:xfrm>
          <a:prstGeom prst="rect">
            <a:avLst/>
          </a:prstGeom>
          <a:solidFill>
            <a:srgbClr val="252B45"/>
          </a:solidFill>
          <a:ln w="9525">
            <a:solidFill>
              <a:srgbClr val="22D3EE"/>
            </a:solidFill>
            <a:prstDash val="solid"/>
          </a:ln>
        </p:spPr>
      </p:sp>
      <p:pic>
        <p:nvPicPr>
          <p:cNvPr id="6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09360" y="3950208"/>
            <a:ext cx="201168" cy="201168"/>
          </a:xfrm>
          <a:prstGeom prst="rect">
            <a:avLst/>
          </a:prstGeom>
        </p:spPr>
      </p:pic>
      <p:sp>
        <p:nvSpPr>
          <p:cNvPr id="63" name="Text 48"/>
          <p:cNvSpPr/>
          <p:nvPr/>
        </p:nvSpPr>
        <p:spPr>
          <a:xfrm>
            <a:off x="6565392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</a:t>
            </a:r>
            <a:endParaRPr lang="en-US" sz="900" dirty="0"/>
          </a:p>
        </p:txBody>
      </p:sp>
      <p:sp>
        <p:nvSpPr>
          <p:cNvPr id="64" name="Shape 4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5" name="Text 50"/>
          <p:cNvSpPr/>
          <p:nvPr/>
        </p:nvSpPr>
        <p:spPr>
          <a:xfrm>
            <a:off x="36576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MDM Lakehouse  |  Claude Opus 4.6  |  AWS Cloud Architecture</a:t>
            </a:r>
            <a:endParaRPr lang="en-US" sz="700" dirty="0"/>
          </a:p>
        </p:txBody>
      </p:sp>
      <p:sp>
        <p:nvSpPr>
          <p:cNvPr id="66" name="Text 51"/>
          <p:cNvSpPr/>
          <p:nvPr/>
        </p:nvSpPr>
        <p:spPr>
          <a:xfrm>
            <a:off x="685800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 |  Feb 2026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AWS Service Map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37160" y="548640"/>
            <a:ext cx="1371600" cy="457200"/>
          </a:xfrm>
          <a:prstGeom prst="rect">
            <a:avLst/>
          </a:prstGeom>
          <a:solidFill>
            <a:srgbClr val="E8731A"/>
          </a:solidFill>
          <a:ln/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621792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486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55448" y="109728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E8731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55448" y="10972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ECC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55448" y="160020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00A1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55448" y="160020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55448" y="210312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C49A0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55448" y="210312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55448" y="260604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55448" y="260604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55448" y="310896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8B95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55448" y="310896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/ CSV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517904" y="2011680"/>
            <a:ext cx="73152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1600200" y="548640"/>
            <a:ext cx="1371600" cy="457200"/>
          </a:xfrm>
          <a:prstGeom prst="rect">
            <a:avLst/>
          </a:prstGeom>
          <a:solidFill>
            <a:srgbClr val="1E6FBA"/>
          </a:solidFill>
          <a:ln/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352" y="621792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965960" y="5486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618488" y="109728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1E6FB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1618488" y="10972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1618488" y="160020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00A1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1618488" y="160020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AppFlow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1618488" y="210312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1618488" y="210312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1618488" y="260604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1618488" y="260604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1618488" y="310896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1618488" y="310896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2980944" y="2011680"/>
            <a:ext cx="73152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3063240" y="548640"/>
            <a:ext cx="1371600" cy="45720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392" y="621792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3429000" y="5486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081528" y="109728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3081528" y="10972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(Claude)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3081528" y="160020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E8731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32"/>
          <p:cNvSpPr/>
          <p:nvPr/>
        </p:nvSpPr>
        <p:spPr>
          <a:xfrm>
            <a:off x="3081528" y="160020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(Spark)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081528" y="210312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1E6FB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Text 34"/>
          <p:cNvSpPr/>
          <p:nvPr/>
        </p:nvSpPr>
        <p:spPr>
          <a:xfrm>
            <a:off x="3081528" y="210312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ETL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3081528" y="260604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Text 36"/>
          <p:cNvSpPr/>
          <p:nvPr/>
        </p:nvSpPr>
        <p:spPr>
          <a:xfrm>
            <a:off x="3081528" y="260604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(Lambda)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3081528" y="310896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D1343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Text 38"/>
          <p:cNvSpPr/>
          <p:nvPr/>
        </p:nvSpPr>
        <p:spPr>
          <a:xfrm>
            <a:off x="3081528" y="310896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Expect.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4443984" y="2011680"/>
            <a:ext cx="73152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45" name="Shape 40"/>
          <p:cNvSpPr/>
          <p:nvPr/>
        </p:nvSpPr>
        <p:spPr>
          <a:xfrm>
            <a:off x="4526280" y="548640"/>
            <a:ext cx="1371600" cy="457200"/>
          </a:xfrm>
          <a:prstGeom prst="rect">
            <a:avLst/>
          </a:prstGeom>
          <a:solidFill>
            <a:srgbClr val="3B8526"/>
          </a:solidFill>
          <a:ln/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621792"/>
            <a:ext cx="274320" cy="27432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4892040" y="5486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4544568" y="109728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3B852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49" name="Text 43"/>
          <p:cNvSpPr/>
          <p:nvPr/>
        </p:nvSpPr>
        <p:spPr>
          <a:xfrm>
            <a:off x="4544568" y="10972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Delta Lake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4544568" y="160020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CD7F3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51" name="Text 45"/>
          <p:cNvSpPr/>
          <p:nvPr/>
        </p:nvSpPr>
        <p:spPr>
          <a:xfrm>
            <a:off x="4544568" y="160020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4544568" y="210312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53" name="Text 47"/>
          <p:cNvSpPr/>
          <p:nvPr/>
        </p:nvSpPr>
        <p:spPr>
          <a:xfrm>
            <a:off x="4544568" y="210312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4544568" y="260604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55" name="Text 49"/>
          <p:cNvSpPr/>
          <p:nvPr/>
        </p:nvSpPr>
        <p:spPr>
          <a:xfrm>
            <a:off x="4544568" y="260604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900" dirty="0"/>
          </a:p>
        </p:txBody>
      </p:sp>
      <p:sp>
        <p:nvSpPr>
          <p:cNvPr id="56" name="Shape 50"/>
          <p:cNvSpPr/>
          <p:nvPr/>
        </p:nvSpPr>
        <p:spPr>
          <a:xfrm>
            <a:off x="4544568" y="310896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57" name="Text 51"/>
          <p:cNvSpPr/>
          <p:nvPr/>
        </p:nvSpPr>
        <p:spPr>
          <a:xfrm>
            <a:off x="4544568" y="310896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</a:t>
            </a:r>
            <a:endParaRPr lang="en-US" sz="900" dirty="0"/>
          </a:p>
        </p:txBody>
      </p:sp>
      <p:sp>
        <p:nvSpPr>
          <p:cNvPr id="58" name="Shape 52"/>
          <p:cNvSpPr/>
          <p:nvPr/>
        </p:nvSpPr>
        <p:spPr>
          <a:xfrm>
            <a:off x="5907024" y="2011680"/>
            <a:ext cx="73152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59" name="Shape 53"/>
          <p:cNvSpPr/>
          <p:nvPr/>
        </p:nvSpPr>
        <p:spPr>
          <a:xfrm>
            <a:off x="5989320" y="548640"/>
            <a:ext cx="1371600" cy="457200"/>
          </a:xfrm>
          <a:prstGeom prst="rect">
            <a:avLst/>
          </a:prstGeom>
          <a:solidFill>
            <a:srgbClr val="29B5E8"/>
          </a:solidFill>
          <a:ln/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6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2" y="621792"/>
            <a:ext cx="274320" cy="274320"/>
          </a:xfrm>
          <a:prstGeom prst="rect">
            <a:avLst/>
          </a:prstGeom>
        </p:spPr>
      </p:pic>
      <p:sp>
        <p:nvSpPr>
          <p:cNvPr id="61" name="Text 54"/>
          <p:cNvSpPr/>
          <p:nvPr/>
        </p:nvSpPr>
        <p:spPr>
          <a:xfrm>
            <a:off x="6355080" y="5486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</a:t>
            </a:r>
            <a:endParaRPr lang="en-US" sz="1000" dirty="0"/>
          </a:p>
        </p:txBody>
      </p:sp>
      <p:sp>
        <p:nvSpPr>
          <p:cNvPr id="62" name="Shape 55"/>
          <p:cNvSpPr/>
          <p:nvPr/>
        </p:nvSpPr>
        <p:spPr>
          <a:xfrm>
            <a:off x="6007608" y="109728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29B5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63" name="Text 56"/>
          <p:cNvSpPr/>
          <p:nvPr/>
        </p:nvSpPr>
        <p:spPr>
          <a:xfrm>
            <a:off x="6007608" y="10972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DW</a:t>
            </a:r>
            <a:endParaRPr lang="en-US" sz="900" dirty="0"/>
          </a:p>
        </p:txBody>
      </p:sp>
      <p:sp>
        <p:nvSpPr>
          <p:cNvPr id="64" name="Shape 57"/>
          <p:cNvSpPr/>
          <p:nvPr/>
        </p:nvSpPr>
        <p:spPr>
          <a:xfrm>
            <a:off x="6007608" y="160020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1E6FB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65" name="Text 58"/>
          <p:cNvSpPr/>
          <p:nvPr/>
        </p:nvSpPr>
        <p:spPr>
          <a:xfrm>
            <a:off x="6007608" y="160020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</a:t>
            </a:r>
            <a:endParaRPr lang="en-US" sz="900" dirty="0"/>
          </a:p>
        </p:txBody>
      </p:sp>
      <p:sp>
        <p:nvSpPr>
          <p:cNvPr id="66" name="Shape 59"/>
          <p:cNvSpPr/>
          <p:nvPr/>
        </p:nvSpPr>
        <p:spPr>
          <a:xfrm>
            <a:off x="6007608" y="210312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67" name="Text 60"/>
          <p:cNvSpPr/>
          <p:nvPr/>
        </p:nvSpPr>
        <p:spPr>
          <a:xfrm>
            <a:off x="6007608" y="210312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68" name="Shape 61"/>
          <p:cNvSpPr/>
          <p:nvPr/>
        </p:nvSpPr>
        <p:spPr>
          <a:xfrm>
            <a:off x="6007608" y="260604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00A1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69" name="Text 62"/>
          <p:cNvSpPr/>
          <p:nvPr/>
        </p:nvSpPr>
        <p:spPr>
          <a:xfrm>
            <a:off x="6007608" y="260604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/ BI</a:t>
            </a:r>
            <a:endParaRPr lang="en-US" sz="900" dirty="0"/>
          </a:p>
        </p:txBody>
      </p:sp>
      <p:sp>
        <p:nvSpPr>
          <p:cNvPr id="70" name="Shape 63"/>
          <p:cNvSpPr/>
          <p:nvPr/>
        </p:nvSpPr>
        <p:spPr>
          <a:xfrm>
            <a:off x="6007608" y="310896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D1343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71" name="Text 64"/>
          <p:cNvSpPr/>
          <p:nvPr/>
        </p:nvSpPr>
        <p:spPr>
          <a:xfrm>
            <a:off x="6007608" y="310896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</a:t>
            </a:r>
            <a:endParaRPr lang="en-US" sz="900" dirty="0"/>
          </a:p>
        </p:txBody>
      </p:sp>
      <p:sp>
        <p:nvSpPr>
          <p:cNvPr id="72" name="Shape 65"/>
          <p:cNvSpPr/>
          <p:nvPr/>
        </p:nvSpPr>
        <p:spPr>
          <a:xfrm>
            <a:off x="7370064" y="2011680"/>
            <a:ext cx="73152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73" name="Shape 66"/>
          <p:cNvSpPr/>
          <p:nvPr/>
        </p:nvSpPr>
        <p:spPr>
          <a:xfrm>
            <a:off x="7452360" y="548640"/>
            <a:ext cx="1371600" cy="457200"/>
          </a:xfrm>
          <a:prstGeom prst="rect">
            <a:avLst/>
          </a:prstGeom>
          <a:solidFill>
            <a:srgbClr val="D13438"/>
          </a:solidFill>
          <a:ln/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pic>
        <p:nvPicPr>
          <p:cNvPr id="7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5512" y="621792"/>
            <a:ext cx="274320" cy="274320"/>
          </a:xfrm>
          <a:prstGeom prst="rect">
            <a:avLst/>
          </a:prstGeom>
        </p:spPr>
      </p:pic>
      <p:sp>
        <p:nvSpPr>
          <p:cNvPr id="75" name="Text 67"/>
          <p:cNvSpPr/>
          <p:nvPr/>
        </p:nvSpPr>
        <p:spPr>
          <a:xfrm>
            <a:off x="7818120" y="5486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</a:t>
            </a:r>
            <a:endParaRPr lang="en-US" sz="1000" dirty="0"/>
          </a:p>
        </p:txBody>
      </p:sp>
      <p:sp>
        <p:nvSpPr>
          <p:cNvPr id="76" name="Shape 68"/>
          <p:cNvSpPr/>
          <p:nvPr/>
        </p:nvSpPr>
        <p:spPr>
          <a:xfrm>
            <a:off x="7470648" y="109728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D1343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77" name="Text 69"/>
          <p:cNvSpPr/>
          <p:nvPr/>
        </p:nvSpPr>
        <p:spPr>
          <a:xfrm>
            <a:off x="7470648" y="10972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</a:t>
            </a:r>
            <a:endParaRPr lang="en-US" sz="900" dirty="0"/>
          </a:p>
        </p:txBody>
      </p:sp>
      <p:sp>
        <p:nvSpPr>
          <p:cNvPr id="78" name="Shape 70"/>
          <p:cNvSpPr/>
          <p:nvPr/>
        </p:nvSpPr>
        <p:spPr>
          <a:xfrm>
            <a:off x="7470648" y="160020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79" name="Text 71"/>
          <p:cNvSpPr/>
          <p:nvPr/>
        </p:nvSpPr>
        <p:spPr>
          <a:xfrm>
            <a:off x="7470648" y="160020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Encrypt</a:t>
            </a:r>
            <a:endParaRPr lang="en-US" sz="900" dirty="0"/>
          </a:p>
        </p:txBody>
      </p:sp>
      <p:sp>
        <p:nvSpPr>
          <p:cNvPr id="80" name="Shape 72"/>
          <p:cNvSpPr/>
          <p:nvPr/>
        </p:nvSpPr>
        <p:spPr>
          <a:xfrm>
            <a:off x="7470648" y="210312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3B852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81" name="Text 73"/>
          <p:cNvSpPr/>
          <p:nvPr/>
        </p:nvSpPr>
        <p:spPr>
          <a:xfrm>
            <a:off x="7470648" y="210312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Formation</a:t>
            </a:r>
            <a:endParaRPr lang="en-US" sz="900" dirty="0"/>
          </a:p>
        </p:txBody>
      </p:sp>
      <p:sp>
        <p:nvSpPr>
          <p:cNvPr id="82" name="Shape 74"/>
          <p:cNvSpPr/>
          <p:nvPr/>
        </p:nvSpPr>
        <p:spPr>
          <a:xfrm>
            <a:off x="7470648" y="260604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D1343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83" name="Text 75"/>
          <p:cNvSpPr/>
          <p:nvPr/>
        </p:nvSpPr>
        <p:spPr>
          <a:xfrm>
            <a:off x="7470648" y="260604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Mgr</a:t>
            </a:r>
            <a:endParaRPr lang="en-US" sz="900" dirty="0"/>
          </a:p>
        </p:txBody>
      </p:sp>
      <p:sp>
        <p:nvSpPr>
          <p:cNvPr id="84" name="Shape 76"/>
          <p:cNvSpPr/>
          <p:nvPr/>
        </p:nvSpPr>
        <p:spPr>
          <a:xfrm>
            <a:off x="7470648" y="3108960"/>
            <a:ext cx="1335024" cy="411480"/>
          </a:xfrm>
          <a:prstGeom prst="rect">
            <a:avLst/>
          </a:prstGeom>
          <a:solidFill>
            <a:srgbClr val="252B45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85" name="Text 77"/>
          <p:cNvSpPr/>
          <p:nvPr/>
        </p:nvSpPr>
        <p:spPr>
          <a:xfrm>
            <a:off x="7470648" y="310896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</a:t>
            </a:r>
            <a:endParaRPr lang="en-US" sz="900" dirty="0"/>
          </a:p>
        </p:txBody>
      </p:sp>
      <p:sp>
        <p:nvSpPr>
          <p:cNvPr id="86" name="Shape 7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87" name="Text 79"/>
          <p:cNvSpPr/>
          <p:nvPr/>
        </p:nvSpPr>
        <p:spPr>
          <a:xfrm>
            <a:off x="36576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MDM Lakehouse  |  Claude Opus 4.6  |  AWS Cloud Architecture</a:t>
            </a:r>
            <a:endParaRPr lang="en-US" sz="700" dirty="0"/>
          </a:p>
        </p:txBody>
      </p:sp>
      <p:sp>
        <p:nvSpPr>
          <p:cNvPr id="88" name="Text 80"/>
          <p:cNvSpPr/>
          <p:nvPr/>
        </p:nvSpPr>
        <p:spPr>
          <a:xfrm>
            <a:off x="685800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 |  Feb 2026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1A1F3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486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$90B Integration Tax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371600" y="10515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Just Got a Massive Discount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46888" y="1709928"/>
            <a:ext cx="2066544" cy="1975104"/>
          </a:xfrm>
          <a:prstGeom prst="rect">
            <a:avLst/>
          </a:prstGeom>
          <a:solidFill>
            <a:srgbClr val="FF9900">
              <a:alpha val="30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737360"/>
            <a:ext cx="2011680" cy="1920240"/>
          </a:xfrm>
          <a:prstGeom prst="rect">
            <a:avLst/>
          </a:prstGeom>
          <a:solidFill>
            <a:srgbClr val="1E2540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7432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Timeline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2194560"/>
            <a:ext cx="1828800" cy="457200"/>
          </a:xfrm>
          <a:prstGeom prst="rect">
            <a:avLst/>
          </a:prstGeom>
          <a:solidFill>
            <a:srgbClr val="1A1F36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1762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365760" y="23042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14-18 months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65760" y="2743200"/>
            <a:ext cx="1828800" cy="457200"/>
          </a:xfrm>
          <a:prstGeom prst="rect">
            <a:avLst/>
          </a:prstGeom>
          <a:solidFill>
            <a:srgbClr val="1A1F36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7249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(Claude)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36576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3-5 months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6576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70-75% faster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441448" y="1709928"/>
            <a:ext cx="2066544" cy="1975104"/>
          </a:xfrm>
          <a:prstGeom prst="rect">
            <a:avLst/>
          </a:prstGeom>
          <a:solidFill>
            <a:srgbClr val="FF9900">
              <a:alpha val="30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468880" y="1737360"/>
            <a:ext cx="2011680" cy="1920240"/>
          </a:xfrm>
          <a:prstGeom prst="rect">
            <a:avLst/>
          </a:prstGeom>
          <a:solidFill>
            <a:srgbClr val="1E2540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46888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2560320" y="2194560"/>
            <a:ext cx="1828800" cy="457200"/>
          </a:xfrm>
          <a:prstGeom prst="rect">
            <a:avLst/>
          </a:prstGeom>
          <a:solidFill>
            <a:srgbClr val="1A1F36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60320" y="21762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2560320" y="23042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$4.2-6.8M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560320" y="2743200"/>
            <a:ext cx="1828800" cy="457200"/>
          </a:xfrm>
          <a:prstGeom prst="rect">
            <a:avLst/>
          </a:prstGeom>
          <a:solidFill>
            <a:srgbClr val="1A1F36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560320" y="27249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(Claude)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256032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$0.8-1.5M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56032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75-80% savings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36008" y="1709928"/>
            <a:ext cx="2066544" cy="1975104"/>
          </a:xfrm>
          <a:prstGeom prst="rect">
            <a:avLst/>
          </a:prstGeom>
          <a:solidFill>
            <a:srgbClr val="FF9900">
              <a:alpha val="30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663440" y="1737360"/>
            <a:ext cx="2011680" cy="1920240"/>
          </a:xfrm>
          <a:prstGeom prst="rect">
            <a:avLst/>
          </a:prstGeom>
          <a:solidFill>
            <a:srgbClr val="1E2540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66344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Size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754880" y="2194560"/>
            <a:ext cx="1828800" cy="457200"/>
          </a:xfrm>
          <a:prstGeom prst="rect">
            <a:avLst/>
          </a:prstGeom>
          <a:solidFill>
            <a:srgbClr val="1A1F36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54880" y="21762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4754880" y="23042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25-35 FTEs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754880" y="2743200"/>
            <a:ext cx="1828800" cy="457200"/>
          </a:xfrm>
          <a:prstGeom prst="rect">
            <a:avLst/>
          </a:prstGeom>
          <a:solidFill>
            <a:srgbClr val="1A1F36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0" y="27249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(Claude)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475488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5-8 humans + AI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475488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75-80% fewer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830568" y="1709928"/>
            <a:ext cx="2066544" cy="1975104"/>
          </a:xfrm>
          <a:prstGeom prst="rect">
            <a:avLst/>
          </a:prstGeom>
          <a:solidFill>
            <a:srgbClr val="FF9900">
              <a:alpha val="30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858000" y="1737360"/>
            <a:ext cx="2011680" cy="1920240"/>
          </a:xfrm>
          <a:prstGeom prst="rect">
            <a:avLst/>
          </a:prstGeom>
          <a:solidFill>
            <a:srgbClr val="1E2540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685800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Pipelines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949440" y="2194560"/>
            <a:ext cx="1828800" cy="457200"/>
          </a:xfrm>
          <a:prstGeom prst="rect">
            <a:avLst/>
          </a:prstGeom>
          <a:solidFill>
            <a:srgbClr val="1A1F36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949440" y="21762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600" dirty="0"/>
          </a:p>
        </p:txBody>
      </p:sp>
      <p:sp>
        <p:nvSpPr>
          <p:cNvPr id="41" name="Text 38"/>
          <p:cNvSpPr/>
          <p:nvPr/>
        </p:nvSpPr>
        <p:spPr>
          <a:xfrm>
            <a:off x="6949440" y="23042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coding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6949440" y="2743200"/>
            <a:ext cx="1828800" cy="457200"/>
          </a:xfrm>
          <a:prstGeom prst="rect">
            <a:avLst/>
          </a:prstGeom>
          <a:solidFill>
            <a:srgbClr val="1A1F36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949440" y="27249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(Claude)</a:t>
            </a:r>
            <a:endParaRPr lang="en-US" sz="600" dirty="0"/>
          </a:p>
        </p:txBody>
      </p:sp>
      <p:sp>
        <p:nvSpPr>
          <p:cNvPr id="44" name="Text 41"/>
          <p:cNvSpPr/>
          <p:nvPr/>
        </p:nvSpPr>
        <p:spPr>
          <a:xfrm>
            <a:off x="694944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50+ auto-generated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694944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Claude Opus 4.6  |  Anthropic Messages API  |  AWS Bedrock  |  Tool Use  |  MCP Servers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 |  Paddy  |  February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Enterprise MDM Lakehouse - Architecture Deep Dive</dc:title>
  <dc:subject>PptxGenJS Presentation</dc:subject>
  <dc:creator>Paddy - Simultaneous</dc:creator>
  <cp:lastModifiedBy>Paddy - Simultaneous</cp:lastModifiedBy>
  <cp:revision>1</cp:revision>
  <dcterms:created xsi:type="dcterms:W3CDTF">2026-02-08T00:28:11Z</dcterms:created>
  <dcterms:modified xsi:type="dcterms:W3CDTF">2026-02-08T00:28:11Z</dcterms:modified>
</cp:coreProperties>
</file>